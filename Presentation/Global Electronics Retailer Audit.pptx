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Bold" charset="1" panose="00000800000000000000"/>
      <p:regular r:id="rId21"/>
    </p:embeddedFont>
    <p:embeddedFont>
      <p:font typeface="Lato" charset="1" panose="020F0502020204030203"/>
      <p:regular r:id="rId22"/>
    </p:embeddedFont>
    <p:embeddedFont>
      <p:font typeface="Lato Bold" charset="1" panose="020F0502020204030203"/>
      <p:regular r:id="rId23"/>
    </p:embeddedFont>
    <p:embeddedFont>
      <p:font typeface="Poppins Medium" charset="1" panose="00000600000000000000"/>
      <p:regular r:id="rId26"/>
    </p:embeddedFont>
    <p:embeddedFont>
      <p:font typeface="Lato Italics" charset="1" panose="020F0502020204030203"/>
      <p:regular r:id="rId33"/>
    </p:embeddedFont>
    <p:embeddedFont>
      <p:font typeface="Poppins" charset="1" panose="000005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fonts/font33.fntdata" Type="http://schemas.openxmlformats.org/officeDocument/2006/relationships/font"/><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fonts/font36.fntdata" Type="http://schemas.openxmlformats.org/officeDocument/2006/relationships/font"/><Relationship Id="rId37"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4.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https://docs.google.com/spreadsheets/d/1aDs0jMjC9sNaI0JgzZ1sJsPGH_xBfXezU3XYWsV78Bc/edit?usp=sharing" TargetMode="External" Type="http://schemas.openxmlformats.org/officeDocument/2006/relationships/hyperlink"/><Relationship Id="rId5" Target="https://public.tableau.com/views/GlobalElectronicsRetailerExecutiveCommercialDashboard/ExecutiveDashboard?:language=en-US&amp;:sid=&amp;:redirect=auth&amp;:display_count=n&amp;:origin=viz_share_link" TargetMode="External" Type="http://schemas.openxmlformats.org/officeDocument/2006/relationships/hyperlink"/><Relationship Id="rId6" Target="https://github.com/davidsebastianart/global-electronics-retailer-audit"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393156" y="3159338"/>
            <a:ext cx="13501688" cy="3968323"/>
            <a:chOff x="0" y="0"/>
            <a:chExt cx="18002250" cy="5291098"/>
          </a:xfrm>
        </p:grpSpPr>
        <p:sp>
          <p:nvSpPr>
            <p:cNvPr name="TextBox 5" id="5"/>
            <p:cNvSpPr txBox="true"/>
            <p:nvPr/>
          </p:nvSpPr>
          <p:spPr>
            <a:xfrm rot="0">
              <a:off x="0" y="-133350"/>
              <a:ext cx="18002250" cy="2848102"/>
            </a:xfrm>
            <a:prstGeom prst="rect">
              <a:avLst/>
            </a:prstGeom>
          </p:spPr>
          <p:txBody>
            <a:bodyPr anchor="t" rtlCol="false" tIns="0" lIns="0" bIns="0" rIns="0">
              <a:spAutoFit/>
            </a:bodyPr>
            <a:lstStyle/>
            <a:p>
              <a:pPr algn="ctr">
                <a:lnSpc>
                  <a:spcPts val="8448"/>
                </a:lnSpc>
              </a:pPr>
              <a:r>
                <a:rPr lang="en-US" b="true" sz="6400">
                  <a:solidFill>
                    <a:srgbClr val="0F172A"/>
                  </a:solidFill>
                  <a:latin typeface="Poppins Bold"/>
                  <a:ea typeface="Poppins Bold"/>
                  <a:cs typeface="Poppins Bold"/>
                  <a:sym typeface="Poppins Bold"/>
                </a:rPr>
                <a:t>Global Electronics Retailer: Commercial Performance Audit</a:t>
              </a:r>
            </a:p>
          </p:txBody>
        </p:sp>
        <p:sp>
          <p:nvSpPr>
            <p:cNvPr name="TextBox 6" id="6"/>
            <p:cNvSpPr txBox="true"/>
            <p:nvPr/>
          </p:nvSpPr>
          <p:spPr>
            <a:xfrm rot="0">
              <a:off x="428625" y="2811345"/>
              <a:ext cx="17145000" cy="921842"/>
            </a:xfrm>
            <a:prstGeom prst="rect">
              <a:avLst/>
            </a:prstGeom>
          </p:spPr>
          <p:txBody>
            <a:bodyPr anchor="t" rtlCol="false" tIns="0" lIns="0" bIns="0" rIns="0">
              <a:spAutoFit/>
            </a:bodyPr>
            <a:lstStyle/>
            <a:p>
              <a:pPr algn="ctr">
                <a:lnSpc>
                  <a:spcPts val="5182"/>
                </a:lnSpc>
              </a:pPr>
              <a:r>
                <a:rPr lang="en-US" sz="2700">
                  <a:solidFill>
                    <a:srgbClr val="64748B"/>
                  </a:solidFill>
                  <a:latin typeface="Lato"/>
                  <a:ea typeface="Lato"/>
                  <a:cs typeface="Lato"/>
                  <a:sym typeface="Lato"/>
                </a:rPr>
                <a:t>Strategic Insights &amp; Recommendations for Sustainable Growth</a:t>
              </a:r>
            </a:p>
          </p:txBody>
        </p:sp>
        <p:sp>
          <p:nvSpPr>
            <p:cNvPr name="TextBox 7" id="7"/>
            <p:cNvSpPr txBox="true"/>
            <p:nvPr/>
          </p:nvSpPr>
          <p:spPr>
            <a:xfrm rot="0">
              <a:off x="428625" y="4090427"/>
              <a:ext cx="17145000" cy="611505"/>
            </a:xfrm>
            <a:prstGeom prst="rect">
              <a:avLst/>
            </a:prstGeom>
          </p:spPr>
          <p:txBody>
            <a:bodyPr anchor="t" rtlCol="false" tIns="0" lIns="0" bIns="0" rIns="0">
              <a:spAutoFit/>
            </a:bodyPr>
            <a:lstStyle/>
            <a:p>
              <a:pPr algn="ctr">
                <a:lnSpc>
                  <a:spcPts val="4320"/>
                </a:lnSpc>
              </a:pPr>
              <a:r>
                <a:rPr lang="en-US" b="true" sz="2250">
                  <a:solidFill>
                    <a:srgbClr val="0284C7"/>
                  </a:solidFill>
                  <a:latin typeface="Lato Bold"/>
                  <a:ea typeface="Lato Bold"/>
                  <a:cs typeface="Lato Bold"/>
                  <a:sym typeface="Lato Bold"/>
                </a:rPr>
                <a:t>David Sebastian Aritonang</a:t>
              </a:r>
            </a:p>
          </p:txBody>
        </p:sp>
        <p:sp>
          <p:nvSpPr>
            <p:cNvPr name="TextBox 8" id="8"/>
            <p:cNvSpPr txBox="true"/>
            <p:nvPr/>
          </p:nvSpPr>
          <p:spPr>
            <a:xfrm rot="0">
              <a:off x="428625" y="4670182"/>
              <a:ext cx="17145000" cy="620916"/>
            </a:xfrm>
            <a:prstGeom prst="rect">
              <a:avLst/>
            </a:prstGeom>
          </p:spPr>
          <p:txBody>
            <a:bodyPr anchor="t" rtlCol="false" tIns="0" lIns="0" bIns="0" rIns="0">
              <a:spAutoFit/>
            </a:bodyPr>
            <a:lstStyle/>
            <a:p>
              <a:pPr algn="ctr">
                <a:lnSpc>
                  <a:spcPts val="3456"/>
                </a:lnSpc>
              </a:pPr>
              <a:r>
                <a:rPr lang="en-US" sz="1800">
                  <a:solidFill>
                    <a:srgbClr val="94A3B8"/>
                  </a:solidFill>
                  <a:latin typeface="Lato"/>
                  <a:ea typeface="Lato"/>
                  <a:cs typeface="Lato"/>
                  <a:sym typeface="Lato"/>
                </a:rPr>
                <a:t>July 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6568265" y="1923283"/>
            <a:ext cx="5151537"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Table of Contents</a:t>
            </a:r>
          </a:p>
        </p:txBody>
      </p:sp>
      <p:sp>
        <p:nvSpPr>
          <p:cNvPr name="TextBox 5" id="5"/>
          <p:cNvSpPr txBox="true"/>
          <p:nvPr/>
        </p:nvSpPr>
        <p:spPr>
          <a:xfrm rot="0">
            <a:off x="5146877" y="3114450"/>
            <a:ext cx="7994247" cy="5201642"/>
          </a:xfrm>
          <a:prstGeom prst="rect">
            <a:avLst/>
          </a:prstGeom>
        </p:spPr>
        <p:txBody>
          <a:bodyPr anchor="t" rtlCol="false" tIns="0" lIns="0" bIns="0" rIns="0">
            <a:spAutoFit/>
          </a:bodyPr>
          <a:lstStyle/>
          <a:p>
            <a:pPr algn="l" marL="660082" indent="-330041" lvl="1">
              <a:lnSpc>
                <a:spcPts val="5182"/>
              </a:lnSpc>
              <a:buFont typeface="Arial"/>
              <a:buChar char="•"/>
            </a:pPr>
            <a:r>
              <a:rPr lang="en-US" sz="2700">
                <a:solidFill>
                  <a:srgbClr val="64748B"/>
                </a:solidFill>
                <a:latin typeface="Lato"/>
                <a:ea typeface="Lato"/>
                <a:cs typeface="Lato"/>
                <a:sym typeface="Lato"/>
              </a:rPr>
              <a:t>Introduction &amp; Business Objectives</a:t>
            </a:r>
          </a:p>
          <a:p>
            <a:pPr algn="l" marL="660082" indent="-330041" lvl="1">
              <a:lnSpc>
                <a:spcPts val="5182"/>
              </a:lnSpc>
              <a:buFont typeface="Arial"/>
              <a:buChar char="•"/>
            </a:pPr>
            <a:r>
              <a:rPr lang="en-US" sz="2700">
                <a:solidFill>
                  <a:srgbClr val="64748B"/>
                </a:solidFill>
                <a:latin typeface="Lato"/>
                <a:ea typeface="Lato"/>
                <a:cs typeface="Lato"/>
                <a:sym typeface="Lato"/>
              </a:rPr>
              <a:t>Data Overview &amp; Preparation</a:t>
            </a:r>
          </a:p>
          <a:p>
            <a:pPr algn="l" marL="660082" indent="-330041" lvl="1">
              <a:lnSpc>
                <a:spcPts val="5181"/>
              </a:lnSpc>
              <a:buFont typeface="Arial"/>
              <a:buChar char="•"/>
            </a:pPr>
            <a:r>
              <a:rPr lang="en-US" sz="2700">
                <a:solidFill>
                  <a:srgbClr val="64748B"/>
                </a:solidFill>
                <a:latin typeface="Lato"/>
                <a:ea typeface="Lato"/>
                <a:cs typeface="Lato"/>
                <a:sym typeface="Lato"/>
              </a:rPr>
              <a:t>Customer Geography</a:t>
            </a:r>
          </a:p>
          <a:p>
            <a:pPr algn="l" marL="660082" indent="-330041" lvl="1">
              <a:lnSpc>
                <a:spcPts val="5182"/>
              </a:lnSpc>
              <a:buFont typeface="Arial"/>
              <a:buChar char="•"/>
            </a:pPr>
            <a:r>
              <a:rPr lang="en-US" sz="2700">
                <a:solidFill>
                  <a:srgbClr val="64748B"/>
                </a:solidFill>
                <a:latin typeface="Lato"/>
                <a:ea typeface="Lato"/>
                <a:cs typeface="Lato"/>
                <a:sym typeface="Lato"/>
              </a:rPr>
              <a:t>Product Portfolio</a:t>
            </a:r>
          </a:p>
          <a:p>
            <a:pPr algn="l" marL="660082" indent="-330041" lvl="1">
              <a:lnSpc>
                <a:spcPts val="5182"/>
              </a:lnSpc>
              <a:buFont typeface="Arial"/>
              <a:buChar char="•"/>
            </a:pPr>
            <a:r>
              <a:rPr lang="en-US" sz="2700">
                <a:solidFill>
                  <a:srgbClr val="64748B"/>
                </a:solidFill>
                <a:latin typeface="Lato"/>
                <a:ea typeface="Lato"/>
                <a:cs typeface="Lato"/>
                <a:sym typeface="Lato"/>
              </a:rPr>
              <a:t>Revenue &amp; Seasonality Trends</a:t>
            </a:r>
          </a:p>
          <a:p>
            <a:pPr algn="l" marL="660082" indent="-330041" lvl="1">
              <a:lnSpc>
                <a:spcPts val="5182"/>
              </a:lnSpc>
              <a:buFont typeface="Arial"/>
              <a:buChar char="•"/>
            </a:pPr>
            <a:r>
              <a:rPr lang="en-US" sz="2700">
                <a:solidFill>
                  <a:srgbClr val="64748B"/>
                </a:solidFill>
                <a:latin typeface="Lato"/>
                <a:ea typeface="Lato"/>
                <a:cs typeface="Lato"/>
                <a:sym typeface="Lato"/>
              </a:rPr>
              <a:t>Operational Efficiency &amp; Channel Performance</a:t>
            </a:r>
          </a:p>
          <a:p>
            <a:pPr algn="l" marL="660082" indent="-330041" lvl="1">
              <a:lnSpc>
                <a:spcPts val="5182"/>
              </a:lnSpc>
              <a:buFont typeface="Arial"/>
              <a:buChar char="•"/>
            </a:pPr>
            <a:r>
              <a:rPr lang="en-US" sz="2700">
                <a:solidFill>
                  <a:srgbClr val="64748B"/>
                </a:solidFill>
                <a:latin typeface="Lato"/>
                <a:ea typeface="Lato"/>
                <a:cs typeface="Lato"/>
                <a:sym typeface="Lato"/>
              </a:rPr>
              <a:t>Strategic Recommendations</a:t>
            </a:r>
          </a:p>
          <a:p>
            <a:pPr algn="l" marL="660082" indent="-330041" lvl="1">
              <a:lnSpc>
                <a:spcPts val="5182"/>
              </a:lnSpc>
              <a:buFont typeface="Arial"/>
              <a:buChar char="•"/>
            </a:pPr>
            <a:r>
              <a:rPr lang="en-US" sz="2700">
                <a:solidFill>
                  <a:srgbClr val="64748B"/>
                </a:solidFill>
                <a:latin typeface="Lato"/>
                <a:ea typeface="Lato"/>
                <a:cs typeface="Lato"/>
                <a:sym typeface="Lato"/>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50269"/>
            <a:ext cx="7858125" cy="7415212"/>
            <a:chOff x="0" y="0"/>
            <a:chExt cx="10477500" cy="9886950"/>
          </a:xfrm>
        </p:grpSpPr>
        <p:sp>
          <p:nvSpPr>
            <p:cNvPr name="Freeform 5" id="5" descr="image.png"/>
            <p:cNvSpPr/>
            <p:nvPr/>
          </p:nvSpPr>
          <p:spPr>
            <a:xfrm flipH="false" flipV="false" rot="0">
              <a:off x="0" y="0"/>
              <a:ext cx="10477500" cy="9886950"/>
            </a:xfrm>
            <a:custGeom>
              <a:avLst/>
              <a:gdLst/>
              <a:ahLst/>
              <a:cxnLst/>
              <a:rect r="r" b="b" t="t" l="l"/>
              <a:pathLst>
                <a:path h="9886950" w="10477500">
                  <a:moveTo>
                    <a:pt x="0" y="0"/>
                  </a:moveTo>
                  <a:lnTo>
                    <a:pt x="10477500" y="0"/>
                  </a:lnTo>
                  <a:lnTo>
                    <a:pt x="10477500" y="9886950"/>
                  </a:lnTo>
                  <a:lnTo>
                    <a:pt x="0" y="9886950"/>
                  </a:lnTo>
                  <a:lnTo>
                    <a:pt x="0" y="0"/>
                  </a:lnTo>
                  <a:close/>
                </a:path>
              </a:pathLst>
            </a:custGeom>
            <a:blipFill>
              <a:blip r:embed="rId4"/>
              <a:stretch>
                <a:fillRect l="0" t="0" r="0" b="-192"/>
              </a:stretch>
            </a:blipFill>
          </p:spPr>
        </p:sp>
      </p:grpSp>
      <p:grpSp>
        <p:nvGrpSpPr>
          <p:cNvPr name="Group 6" id="6"/>
          <p:cNvGrpSpPr/>
          <p:nvPr/>
        </p:nvGrpSpPr>
        <p:grpSpPr>
          <a:xfrm rot="0">
            <a:off x="9572625" y="2150269"/>
            <a:ext cx="7858125" cy="7415212"/>
            <a:chOff x="0" y="0"/>
            <a:chExt cx="10477500" cy="9886950"/>
          </a:xfrm>
        </p:grpSpPr>
        <p:sp>
          <p:nvSpPr>
            <p:cNvPr name="Freeform 7" id="7" descr="image.png"/>
            <p:cNvSpPr/>
            <p:nvPr/>
          </p:nvSpPr>
          <p:spPr>
            <a:xfrm flipH="false" flipV="false" rot="0">
              <a:off x="0" y="0"/>
              <a:ext cx="10477500" cy="9886950"/>
            </a:xfrm>
            <a:custGeom>
              <a:avLst/>
              <a:gdLst/>
              <a:ahLst/>
              <a:cxnLst/>
              <a:rect r="r" b="b" t="t" l="l"/>
              <a:pathLst>
                <a:path h="9886950" w="10477500">
                  <a:moveTo>
                    <a:pt x="0" y="0"/>
                  </a:moveTo>
                  <a:lnTo>
                    <a:pt x="10477500" y="0"/>
                  </a:lnTo>
                  <a:lnTo>
                    <a:pt x="10477500" y="9886950"/>
                  </a:lnTo>
                  <a:lnTo>
                    <a:pt x="0" y="9886950"/>
                  </a:lnTo>
                  <a:lnTo>
                    <a:pt x="0" y="0"/>
                  </a:lnTo>
                  <a:close/>
                </a:path>
              </a:pathLst>
            </a:custGeom>
            <a:blipFill>
              <a:blip r:embed="rId5"/>
              <a:stretch>
                <a:fillRect l="0" t="0" r="0" b="-192"/>
              </a:stretch>
            </a:blipFill>
          </p:spPr>
        </p:sp>
      </p:grpSp>
      <p:sp>
        <p:nvSpPr>
          <p:cNvPr name="TextBox 8" id="8"/>
          <p:cNvSpPr txBox="true"/>
          <p:nvPr/>
        </p:nvSpPr>
        <p:spPr>
          <a:xfrm rot="0">
            <a:off x="1443037" y="2717006"/>
            <a:ext cx="7020878" cy="49530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Busin</a:t>
            </a:r>
            <a:r>
              <a:rPr lang="en-US" b="true" sz="3150">
                <a:solidFill>
                  <a:srgbClr val="0284C7"/>
                </a:solidFill>
                <a:latin typeface="Poppins Medium"/>
                <a:ea typeface="Poppins Medium"/>
                <a:cs typeface="Poppins Medium"/>
                <a:sym typeface="Poppins Medium"/>
              </a:rPr>
              <a:t>ess Context</a:t>
            </a:r>
          </a:p>
        </p:txBody>
      </p:sp>
      <p:sp>
        <p:nvSpPr>
          <p:cNvPr name="TextBox 9" id="9"/>
          <p:cNvSpPr txBox="true"/>
          <p:nvPr/>
        </p:nvSpPr>
        <p:spPr>
          <a:xfrm rot="0">
            <a:off x="1443038" y="3388519"/>
            <a:ext cx="6686550" cy="321373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As </a:t>
            </a:r>
            <a:r>
              <a:rPr lang="en-US" sz="2250">
                <a:solidFill>
                  <a:srgbClr val="334155"/>
                </a:solidFill>
                <a:latin typeface="Lato"/>
                <a:ea typeface="Lato"/>
                <a:cs typeface="Lato"/>
                <a:sym typeface="Lato"/>
              </a:rPr>
              <a:t>operations scale across international markets, identifying core revenue drivers and evaluating supply chain health is critical. This commercial audit aims to uncover purchasing patterns, operational bottlenecks, and channel effectiveness to drive the upcoming fiscal year's growth strategy.</a:t>
            </a:r>
          </a:p>
        </p:txBody>
      </p:sp>
      <p:sp>
        <p:nvSpPr>
          <p:cNvPr name="TextBox 10" id="10"/>
          <p:cNvSpPr txBox="true"/>
          <p:nvPr/>
        </p:nvSpPr>
        <p:spPr>
          <a:xfrm rot="0">
            <a:off x="10158412" y="2717006"/>
            <a:ext cx="7020878" cy="49530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K</a:t>
            </a:r>
            <a:r>
              <a:rPr lang="en-US" b="true" sz="3150">
                <a:solidFill>
                  <a:srgbClr val="0284C7"/>
                </a:solidFill>
                <a:latin typeface="Poppins Medium"/>
                <a:ea typeface="Poppins Medium"/>
                <a:cs typeface="Poppins Medium"/>
                <a:sym typeface="Poppins Medium"/>
              </a:rPr>
              <a:t>ey Business Questions</a:t>
            </a:r>
          </a:p>
        </p:txBody>
      </p:sp>
      <p:sp>
        <p:nvSpPr>
          <p:cNvPr name="TextBox 11" id="11"/>
          <p:cNvSpPr txBox="true"/>
          <p:nvPr/>
        </p:nvSpPr>
        <p:spPr>
          <a:xfrm rot="0">
            <a:off x="10158412" y="3388519"/>
            <a:ext cx="6257925" cy="5385435"/>
          </a:xfrm>
          <a:prstGeom prst="rect">
            <a:avLst/>
          </a:prstGeom>
        </p:spPr>
        <p:txBody>
          <a:bodyPr anchor="t" rtlCol="false" tIns="0" lIns="0" bIns="0" rIns="0">
            <a:spAutoFit/>
          </a:bodyPr>
          <a:lstStyle/>
          <a:p>
            <a:pPr algn="l" marL="485775" indent="-242888" lvl="1">
              <a:lnSpc>
                <a:spcPts val="4320"/>
              </a:lnSpc>
              <a:buAutoNum type="arabicPeriod" startAt="1"/>
            </a:pPr>
            <a:r>
              <a:rPr lang="en-US" sz="2250">
                <a:solidFill>
                  <a:srgbClr val="334155"/>
                </a:solidFill>
                <a:latin typeface="Lato"/>
                <a:ea typeface="Lato"/>
                <a:cs typeface="Lato"/>
                <a:sym typeface="Lato"/>
              </a:rPr>
              <a:t>What </a:t>
            </a:r>
            <a:r>
              <a:rPr lang="en-US" sz="2250">
                <a:solidFill>
                  <a:srgbClr val="334155"/>
                </a:solidFill>
                <a:latin typeface="Lato"/>
                <a:ea typeface="Lato"/>
                <a:cs typeface="Lato"/>
                <a:sym typeface="Lato"/>
              </a:rPr>
              <a:t>is the current composition of our product portfolio, and where are our primary customer bases located?</a:t>
            </a:r>
          </a:p>
          <a:p>
            <a:pPr algn="l" marL="485775" indent="-242888" lvl="1">
              <a:lnSpc>
                <a:spcPts val="4320"/>
              </a:lnSpc>
              <a:buAutoNum type="arabicPeriod" startAt="1"/>
            </a:pPr>
            <a:r>
              <a:rPr lang="en-US" sz="2250">
                <a:solidFill>
                  <a:srgbClr val="334155"/>
                </a:solidFill>
                <a:latin typeface="Lato"/>
                <a:ea typeface="Lato"/>
                <a:cs typeface="Lato"/>
                <a:sym typeface="Lato"/>
              </a:rPr>
              <a:t>Are there identifiable seasonal patterns impacting revenue and order volume?</a:t>
            </a:r>
          </a:p>
          <a:p>
            <a:pPr algn="l" marL="485775" indent="-242888" lvl="1">
              <a:lnSpc>
                <a:spcPts val="4320"/>
              </a:lnSpc>
              <a:buAutoNum type="arabicPeriod" startAt="1"/>
            </a:pPr>
            <a:r>
              <a:rPr lang="en-US" sz="2250">
                <a:solidFill>
                  <a:srgbClr val="334155"/>
                </a:solidFill>
                <a:latin typeface="Lato"/>
                <a:ea typeface="Lato"/>
                <a:cs typeface="Lato"/>
                <a:sym typeface="Lato"/>
              </a:rPr>
              <a:t>How is our logistics network performing over time regarding delivery speeds?</a:t>
            </a:r>
          </a:p>
          <a:p>
            <a:pPr algn="l" marL="485775" indent="-242888" lvl="1">
              <a:lnSpc>
                <a:spcPts val="4320"/>
              </a:lnSpc>
              <a:buAutoNum type="arabicPeriod" startAt="1"/>
            </a:pPr>
            <a:r>
              <a:rPr lang="en-US" sz="2250">
                <a:solidFill>
                  <a:srgbClr val="334155"/>
                </a:solidFill>
                <a:latin typeface="Lato"/>
                <a:ea typeface="Lato"/>
                <a:cs typeface="Lato"/>
                <a:sym typeface="Lato"/>
              </a:rPr>
              <a:t>Is there a measurable difference in the Average Order Value (AOV) between In-Store and Online sales channels?</a:t>
            </a:r>
          </a:p>
        </p:txBody>
      </p:sp>
      <p:sp>
        <p:nvSpPr>
          <p:cNvPr name="TextBox 12" id="12"/>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In</a:t>
            </a:r>
            <a:r>
              <a:rPr lang="en-US" b="true" sz="4500">
                <a:solidFill>
                  <a:srgbClr val="0F172A"/>
                </a:solidFill>
                <a:latin typeface="Poppins Bold"/>
                <a:ea typeface="Poppins Bold"/>
                <a:cs typeface="Poppins Bold"/>
                <a:sym typeface="Poppins Bold"/>
              </a:rPr>
              <a:t>troduction &amp; Business Objectives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50269"/>
            <a:ext cx="7858125" cy="7415212"/>
            <a:chOff x="0" y="0"/>
            <a:chExt cx="10477500" cy="9886950"/>
          </a:xfrm>
        </p:grpSpPr>
        <p:sp>
          <p:nvSpPr>
            <p:cNvPr name="Freeform 5" id="5" descr="image.png"/>
            <p:cNvSpPr/>
            <p:nvPr/>
          </p:nvSpPr>
          <p:spPr>
            <a:xfrm flipH="false" flipV="false" rot="0">
              <a:off x="0" y="0"/>
              <a:ext cx="10477500" cy="9886950"/>
            </a:xfrm>
            <a:custGeom>
              <a:avLst/>
              <a:gdLst/>
              <a:ahLst/>
              <a:cxnLst/>
              <a:rect r="r" b="b" t="t" l="l"/>
              <a:pathLst>
                <a:path h="9886950" w="10477500">
                  <a:moveTo>
                    <a:pt x="0" y="0"/>
                  </a:moveTo>
                  <a:lnTo>
                    <a:pt x="10477500" y="0"/>
                  </a:lnTo>
                  <a:lnTo>
                    <a:pt x="10477500" y="9886950"/>
                  </a:lnTo>
                  <a:lnTo>
                    <a:pt x="0" y="9886950"/>
                  </a:lnTo>
                  <a:lnTo>
                    <a:pt x="0" y="0"/>
                  </a:lnTo>
                  <a:close/>
                </a:path>
              </a:pathLst>
            </a:custGeom>
            <a:blipFill>
              <a:blip r:embed="rId4"/>
              <a:stretch>
                <a:fillRect l="0" t="0" r="0" b="-192"/>
              </a:stretch>
            </a:blipFill>
          </p:spPr>
        </p:sp>
      </p:grpSp>
      <p:grpSp>
        <p:nvGrpSpPr>
          <p:cNvPr name="Group 6" id="6"/>
          <p:cNvGrpSpPr/>
          <p:nvPr/>
        </p:nvGrpSpPr>
        <p:grpSpPr>
          <a:xfrm rot="0">
            <a:off x="9572625" y="2150269"/>
            <a:ext cx="7858125" cy="7415212"/>
            <a:chOff x="0" y="0"/>
            <a:chExt cx="10477500" cy="9886950"/>
          </a:xfrm>
        </p:grpSpPr>
        <p:sp>
          <p:nvSpPr>
            <p:cNvPr name="Freeform 7" id="7" descr="image.png"/>
            <p:cNvSpPr/>
            <p:nvPr/>
          </p:nvSpPr>
          <p:spPr>
            <a:xfrm flipH="false" flipV="false" rot="0">
              <a:off x="0" y="0"/>
              <a:ext cx="10477500" cy="9886950"/>
            </a:xfrm>
            <a:custGeom>
              <a:avLst/>
              <a:gdLst/>
              <a:ahLst/>
              <a:cxnLst/>
              <a:rect r="r" b="b" t="t" l="l"/>
              <a:pathLst>
                <a:path h="9886950" w="10477500">
                  <a:moveTo>
                    <a:pt x="0" y="0"/>
                  </a:moveTo>
                  <a:lnTo>
                    <a:pt x="10477500" y="0"/>
                  </a:lnTo>
                  <a:lnTo>
                    <a:pt x="10477500" y="9886950"/>
                  </a:lnTo>
                  <a:lnTo>
                    <a:pt x="0" y="9886950"/>
                  </a:lnTo>
                  <a:lnTo>
                    <a:pt x="0" y="0"/>
                  </a:lnTo>
                  <a:close/>
                </a:path>
              </a:pathLst>
            </a:custGeom>
            <a:blipFill>
              <a:blip r:embed="rId5"/>
              <a:stretch>
                <a:fillRect l="0" t="0" r="0" b="-192"/>
              </a:stretch>
            </a:blipFill>
          </p:spPr>
        </p:sp>
      </p:grpSp>
      <p:sp>
        <p:nvSpPr>
          <p:cNvPr name="TextBox 8" id="8"/>
          <p:cNvSpPr txBox="true"/>
          <p:nvPr/>
        </p:nvSpPr>
        <p:spPr>
          <a:xfrm rot="0">
            <a:off x="1443037" y="2717006"/>
            <a:ext cx="7020878" cy="49530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Data Processing (ETL)</a:t>
            </a:r>
          </a:p>
        </p:txBody>
      </p:sp>
      <p:sp>
        <p:nvSpPr>
          <p:cNvPr name="TextBox 9" id="9"/>
          <p:cNvSpPr txBox="true"/>
          <p:nvPr/>
        </p:nvSpPr>
        <p:spPr>
          <a:xfrm rot="0">
            <a:off x="1443038" y="3388519"/>
            <a:ext cx="6686550" cy="15335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Rigorous data cleaning and validation were executed to ensure a high-fidelity analysis of historical global retail transactions.</a:t>
            </a:r>
          </a:p>
        </p:txBody>
      </p:sp>
      <p:sp>
        <p:nvSpPr>
          <p:cNvPr name="TextBox 10" id="10"/>
          <p:cNvSpPr txBox="true"/>
          <p:nvPr/>
        </p:nvSpPr>
        <p:spPr>
          <a:xfrm rot="0">
            <a:off x="10158412" y="2717006"/>
            <a:ext cx="7020878" cy="619125"/>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Dimensionality &amp; Tech Stack</a:t>
            </a:r>
          </a:p>
        </p:txBody>
      </p:sp>
      <p:sp>
        <p:nvSpPr>
          <p:cNvPr name="TextBox 11" id="11"/>
          <p:cNvSpPr txBox="true"/>
          <p:nvPr/>
        </p:nvSpPr>
        <p:spPr>
          <a:xfrm rot="0">
            <a:off x="10158412" y="3388519"/>
            <a:ext cx="6686550" cy="15335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Optimized data granularity to focus on macro-level business trends that inform strategic decisions at the executive level.</a:t>
            </a:r>
          </a:p>
        </p:txBody>
      </p:sp>
      <p:sp>
        <p:nvSpPr>
          <p:cNvPr name="TextBox 12" id="12"/>
          <p:cNvSpPr txBox="true"/>
          <p:nvPr/>
        </p:nvSpPr>
        <p:spPr>
          <a:xfrm rot="0">
            <a:off x="1871662" y="5045869"/>
            <a:ext cx="6257925" cy="15335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Data Type Casting:</a:t>
            </a:r>
            <a:r>
              <a:rPr lang="en-US" sz="2250">
                <a:solidFill>
                  <a:srgbClr val="334155"/>
                </a:solidFill>
                <a:latin typeface="Lato"/>
                <a:ea typeface="Lato"/>
                <a:cs typeface="Lato"/>
                <a:sym typeface="Lato"/>
              </a:rPr>
              <a:t> Converted raw string data into exact datetime formats to enable precise time-series analysis.</a:t>
            </a:r>
          </a:p>
        </p:txBody>
      </p:sp>
      <p:sp>
        <p:nvSpPr>
          <p:cNvPr name="TextBox 13" id="13"/>
          <p:cNvSpPr txBox="true"/>
          <p:nvPr/>
        </p:nvSpPr>
        <p:spPr>
          <a:xfrm rot="0">
            <a:off x="1871662" y="6703219"/>
            <a:ext cx="6257925" cy="15335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Metric Engineering:</a:t>
            </a:r>
            <a:r>
              <a:rPr lang="en-US" sz="2250">
                <a:solidFill>
                  <a:srgbClr val="334155"/>
                </a:solidFill>
                <a:latin typeface="Lato"/>
                <a:ea typeface="Lato"/>
                <a:cs typeface="Lato"/>
                <a:sym typeface="Lato"/>
              </a:rPr>
              <a:t> Formulated custom metrics such as Average Order Value (AOV) by aggregating total revenue against distinct orders.</a:t>
            </a:r>
          </a:p>
        </p:txBody>
      </p:sp>
      <p:sp>
        <p:nvSpPr>
          <p:cNvPr name="TextBox 14" id="14"/>
          <p:cNvSpPr txBox="true"/>
          <p:nvPr/>
        </p:nvSpPr>
        <p:spPr>
          <a:xfrm rot="0">
            <a:off x="10587038" y="5045869"/>
            <a:ext cx="6257925" cy="15335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Dimensionality Reduction:</a:t>
            </a:r>
            <a:r>
              <a:rPr lang="en-US" sz="2250">
                <a:solidFill>
                  <a:srgbClr val="334155"/>
                </a:solidFill>
                <a:latin typeface="Lato"/>
                <a:ea typeface="Lato"/>
                <a:cs typeface="Lato"/>
                <a:sym typeface="Lato"/>
              </a:rPr>
              <a:t> Categorized granular age data into distinct macro-demographic buckets (Youth, Adult, Senior).</a:t>
            </a:r>
          </a:p>
        </p:txBody>
      </p:sp>
      <p:sp>
        <p:nvSpPr>
          <p:cNvPr name="TextBox 15" id="15"/>
          <p:cNvSpPr txBox="true"/>
          <p:nvPr/>
        </p:nvSpPr>
        <p:spPr>
          <a:xfrm rot="0">
            <a:off x="10587038" y="6703219"/>
            <a:ext cx="6257925" cy="19907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Tech Stack Utilization:</a:t>
            </a:r>
            <a:r>
              <a:rPr lang="en-US" sz="2250">
                <a:solidFill>
                  <a:srgbClr val="334155"/>
                </a:solidFill>
                <a:latin typeface="Lato"/>
                <a:ea typeface="Lato"/>
                <a:cs typeface="Lato"/>
                <a:sym typeface="Lato"/>
              </a:rPr>
              <a:t> Leveraged Google BigQuery for robust SQL processing, Microsoft Excel for rapid validation, and Tableau for interactive visualizations.</a:t>
            </a:r>
          </a:p>
        </p:txBody>
      </p:sp>
      <p:sp>
        <p:nvSpPr>
          <p:cNvPr name="TextBox 16" id="16"/>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Data Overview &amp; Preparation</a:t>
            </a:r>
          </a:p>
        </p:txBody>
      </p:sp>
      <p:grpSp>
        <p:nvGrpSpPr>
          <p:cNvPr name="Group 17" id="17"/>
          <p:cNvGrpSpPr/>
          <p:nvPr/>
        </p:nvGrpSpPr>
        <p:grpSpPr>
          <a:xfrm rot="0">
            <a:off x="1443038" y="5236369"/>
            <a:ext cx="171450" cy="300038"/>
            <a:chOff x="0" y="0"/>
            <a:chExt cx="228600" cy="400050"/>
          </a:xfrm>
        </p:grpSpPr>
        <p:sp>
          <p:nvSpPr>
            <p:cNvPr name="Freeform 18" id="18"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9" id="19"/>
          <p:cNvGrpSpPr/>
          <p:nvPr/>
        </p:nvGrpSpPr>
        <p:grpSpPr>
          <a:xfrm rot="0">
            <a:off x="1443038" y="6893719"/>
            <a:ext cx="171450" cy="300038"/>
            <a:chOff x="0" y="0"/>
            <a:chExt cx="228600" cy="400050"/>
          </a:xfrm>
        </p:grpSpPr>
        <p:sp>
          <p:nvSpPr>
            <p:cNvPr name="Freeform 20" id="20"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21" id="21"/>
          <p:cNvGrpSpPr/>
          <p:nvPr/>
        </p:nvGrpSpPr>
        <p:grpSpPr>
          <a:xfrm rot="0">
            <a:off x="10158412" y="5236369"/>
            <a:ext cx="171450" cy="300038"/>
            <a:chOff x="0" y="0"/>
            <a:chExt cx="228600" cy="400050"/>
          </a:xfrm>
        </p:grpSpPr>
        <p:sp>
          <p:nvSpPr>
            <p:cNvPr name="Freeform 22" id="22"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23" id="23"/>
          <p:cNvGrpSpPr/>
          <p:nvPr/>
        </p:nvGrpSpPr>
        <p:grpSpPr>
          <a:xfrm rot="0">
            <a:off x="10158412" y="6893719"/>
            <a:ext cx="171450" cy="300038"/>
            <a:chOff x="0" y="0"/>
            <a:chExt cx="228600" cy="400050"/>
          </a:xfrm>
        </p:grpSpPr>
        <p:sp>
          <p:nvSpPr>
            <p:cNvPr name="Freeform 24" id="24"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9401175" y="2428875"/>
            <a:ext cx="7858125" cy="5429250"/>
            <a:chOff x="0" y="0"/>
            <a:chExt cx="10477500" cy="7239000"/>
          </a:xfrm>
        </p:grpSpPr>
        <p:grpSp>
          <p:nvGrpSpPr>
            <p:cNvPr name="Group 5" id="5"/>
            <p:cNvGrpSpPr/>
            <p:nvPr/>
          </p:nvGrpSpPr>
          <p:grpSpPr>
            <a:xfrm rot="0">
              <a:off x="0" y="0"/>
              <a:ext cx="10477500" cy="7239000"/>
              <a:chOff x="0" y="0"/>
              <a:chExt cx="10477500" cy="7239000"/>
            </a:xfrm>
          </p:grpSpPr>
          <p:sp>
            <p:nvSpPr>
              <p:cNvPr name="Freeform 6" id="6" descr="image.png"/>
              <p:cNvSpPr/>
              <p:nvPr/>
            </p:nvSpPr>
            <p:spPr>
              <a:xfrm flipH="false" flipV="false" rot="0">
                <a:off x="0" y="0"/>
                <a:ext cx="10477500" cy="7239000"/>
              </a:xfrm>
              <a:custGeom>
                <a:avLst/>
                <a:gdLst/>
                <a:ahLst/>
                <a:cxnLst/>
                <a:rect r="r" b="b" t="t" l="l"/>
                <a:pathLst>
                  <a:path h="7239000" w="10477500">
                    <a:moveTo>
                      <a:pt x="0" y="0"/>
                    </a:moveTo>
                    <a:lnTo>
                      <a:pt x="10477500" y="0"/>
                    </a:lnTo>
                    <a:lnTo>
                      <a:pt x="10477500" y="7239000"/>
                    </a:lnTo>
                    <a:lnTo>
                      <a:pt x="0" y="7239000"/>
                    </a:lnTo>
                    <a:lnTo>
                      <a:pt x="0" y="0"/>
                    </a:lnTo>
                    <a:close/>
                  </a:path>
                </a:pathLst>
              </a:custGeom>
              <a:blipFill>
                <a:blip r:embed="rId4"/>
                <a:stretch>
                  <a:fillRect l="0" t="0" r="0" b="0"/>
                </a:stretch>
              </a:blipFill>
            </p:spPr>
          </p:sp>
        </p:grpSp>
        <p:grpSp>
          <p:nvGrpSpPr>
            <p:cNvPr name="Group 7" id="7"/>
            <p:cNvGrpSpPr/>
            <p:nvPr/>
          </p:nvGrpSpPr>
          <p:grpSpPr>
            <a:xfrm rot="0">
              <a:off x="165434" y="114300"/>
              <a:ext cx="10146632" cy="7010400"/>
              <a:chOff x="0" y="0"/>
              <a:chExt cx="10477500" cy="7239000"/>
            </a:xfrm>
          </p:grpSpPr>
          <p:sp>
            <p:nvSpPr>
              <p:cNvPr name="Freeform 8" id="8"/>
              <p:cNvSpPr/>
              <p:nvPr/>
            </p:nvSpPr>
            <p:spPr>
              <a:xfrm flipH="false" flipV="false" rot="0">
                <a:off x="0" y="0"/>
                <a:ext cx="10477500" cy="7239000"/>
              </a:xfrm>
              <a:custGeom>
                <a:avLst/>
                <a:gdLst/>
                <a:ahLst/>
                <a:cxnLst/>
                <a:rect r="r" b="b" t="t" l="l"/>
                <a:pathLst>
                  <a:path h="7239000" w="10477500">
                    <a:moveTo>
                      <a:pt x="0" y="0"/>
                    </a:moveTo>
                    <a:lnTo>
                      <a:pt x="10477500" y="0"/>
                    </a:lnTo>
                    <a:lnTo>
                      <a:pt x="10477500" y="7239000"/>
                    </a:lnTo>
                    <a:lnTo>
                      <a:pt x="0" y="7239000"/>
                    </a:lnTo>
                    <a:lnTo>
                      <a:pt x="0" y="0"/>
                    </a:lnTo>
                    <a:close/>
                  </a:path>
                </a:pathLst>
              </a:custGeom>
              <a:blipFill>
                <a:blip r:embed="rId5"/>
                <a:stretch>
                  <a:fillRect l="0" t="-746" r="0" b="-746"/>
                </a:stretch>
              </a:blipFill>
            </p:spPr>
          </p:sp>
        </p:grpSp>
      </p:grpSp>
      <p:grpSp>
        <p:nvGrpSpPr>
          <p:cNvPr name="Group 9" id="9"/>
          <p:cNvGrpSpPr/>
          <p:nvPr/>
        </p:nvGrpSpPr>
        <p:grpSpPr>
          <a:xfrm rot="0">
            <a:off x="1028700" y="2171700"/>
            <a:ext cx="8251031" cy="6629400"/>
            <a:chOff x="0" y="0"/>
            <a:chExt cx="11001375" cy="8839200"/>
          </a:xfrm>
        </p:grpSpPr>
        <p:grpSp>
          <p:nvGrpSpPr>
            <p:cNvPr name="Group 10" id="10"/>
            <p:cNvGrpSpPr/>
            <p:nvPr/>
          </p:nvGrpSpPr>
          <p:grpSpPr>
            <a:xfrm rot="0">
              <a:off x="0" y="3238500"/>
              <a:ext cx="228600" cy="400050"/>
              <a:chOff x="0" y="0"/>
              <a:chExt cx="228600" cy="400050"/>
            </a:xfrm>
          </p:grpSpPr>
          <p:sp>
            <p:nvSpPr>
              <p:cNvPr name="Freeform 11" id="11"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2" id="12"/>
            <p:cNvGrpSpPr/>
            <p:nvPr/>
          </p:nvGrpSpPr>
          <p:grpSpPr>
            <a:xfrm rot="0">
              <a:off x="0" y="5448300"/>
              <a:ext cx="228600" cy="400050"/>
              <a:chOff x="0" y="0"/>
              <a:chExt cx="228600" cy="400050"/>
            </a:xfrm>
          </p:grpSpPr>
          <p:sp>
            <p:nvSpPr>
              <p:cNvPr name="Freeform 13" id="13"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4" id="14"/>
            <p:cNvGrpSpPr/>
            <p:nvPr/>
          </p:nvGrpSpPr>
          <p:grpSpPr>
            <a:xfrm rot="0">
              <a:off x="0" y="7048500"/>
              <a:ext cx="228600" cy="400050"/>
              <a:chOff x="0" y="0"/>
              <a:chExt cx="228600" cy="400050"/>
            </a:xfrm>
          </p:grpSpPr>
          <p:sp>
            <p:nvSpPr>
              <p:cNvPr name="Freeform 15" id="15"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sp>
          <p:nvSpPr>
            <p:cNvPr name="TextBox 16" id="16"/>
            <p:cNvSpPr txBox="true"/>
            <p:nvPr/>
          </p:nvSpPr>
          <p:spPr>
            <a:xfrm rot="0">
              <a:off x="0" y="-19050"/>
              <a:ext cx="11001375" cy="8191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Primary Global Customer Hubs</a:t>
              </a:r>
            </a:p>
          </p:txBody>
        </p:sp>
        <p:sp>
          <p:nvSpPr>
            <p:cNvPr name="TextBox 17" id="17"/>
            <p:cNvSpPr txBox="true"/>
            <p:nvPr/>
          </p:nvSpPr>
          <p:spPr>
            <a:xfrm rot="0">
              <a:off x="0" y="923925"/>
              <a:ext cx="10477500" cy="19907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The geographic distribution of orders reveals a highly concentrated consumer base, essential for targeted marketing and logistics scaling.</a:t>
              </a:r>
            </a:p>
          </p:txBody>
        </p:sp>
        <p:sp>
          <p:nvSpPr>
            <p:cNvPr name="TextBox 18" id="18"/>
            <p:cNvSpPr txBox="true"/>
            <p:nvPr/>
          </p:nvSpPr>
          <p:spPr>
            <a:xfrm rot="0">
              <a:off x="571500" y="3038475"/>
              <a:ext cx="9906000" cy="19907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Market Dominance:</a:t>
              </a:r>
              <a:r>
                <a:rPr lang="en-US" sz="2250">
                  <a:solidFill>
                    <a:srgbClr val="334155"/>
                  </a:solidFill>
                  <a:latin typeface="Lato"/>
                  <a:ea typeface="Lato"/>
                  <a:cs typeface="Lato"/>
                  <a:sym typeface="Lato"/>
                </a:rPr>
                <a:t> The United States acts as the absolute anchor for the business, generating the highest volume of traffic (reaching up to 14.22K total orders).</a:t>
              </a:r>
            </a:p>
          </p:txBody>
        </p:sp>
        <p:sp>
          <p:nvSpPr>
            <p:cNvPr name="TextBox 19" id="19"/>
            <p:cNvSpPr txBox="true"/>
            <p:nvPr/>
          </p:nvSpPr>
          <p:spPr>
            <a:xfrm rot="0">
              <a:off x="571500" y="5248275"/>
              <a:ext cx="9906000" cy="13811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Secondary Hubs:</a:t>
              </a:r>
              <a:r>
                <a:rPr lang="en-US" sz="2250">
                  <a:solidFill>
                    <a:srgbClr val="334155"/>
                  </a:solidFill>
                  <a:latin typeface="Lato"/>
                  <a:ea typeface="Lato"/>
                  <a:cs typeface="Lato"/>
                  <a:sym typeface="Lato"/>
                </a:rPr>
                <a:t> Europe, specifically the United Kingdom, acts as the strongest secondary regional hub.</a:t>
              </a:r>
            </a:p>
          </p:txBody>
        </p:sp>
        <p:sp>
          <p:nvSpPr>
            <p:cNvPr name="TextBox 20" id="20"/>
            <p:cNvSpPr txBox="true"/>
            <p:nvPr/>
          </p:nvSpPr>
          <p:spPr>
            <a:xfrm rot="0">
              <a:off x="571500" y="6848475"/>
              <a:ext cx="9906000" cy="19907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Untapped Potential:</a:t>
              </a:r>
              <a:r>
                <a:rPr lang="en-US" sz="2250">
                  <a:solidFill>
                    <a:srgbClr val="334155"/>
                  </a:solidFill>
                  <a:latin typeface="Lato"/>
                  <a:ea typeface="Lato"/>
                  <a:cs typeface="Lato"/>
                  <a:sym typeface="Lato"/>
                </a:rPr>
                <a:t> Emerging markets like Australia show a growing footprint but currently lack deep market penetration compared to Western hubs.</a:t>
              </a:r>
            </a:p>
          </p:txBody>
        </p:sp>
      </p:grpSp>
      <p:sp>
        <p:nvSpPr>
          <p:cNvPr name="TextBox 21" id="21"/>
          <p:cNvSpPr txBox="true"/>
          <p:nvPr/>
        </p:nvSpPr>
        <p:spPr>
          <a:xfrm rot="0">
            <a:off x="442913"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Customer Geography: The Western Anchor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28700" y="2116455"/>
            <a:ext cx="8251031" cy="619125"/>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Computers Lead Total Orders</a:t>
            </a:r>
          </a:p>
        </p:txBody>
      </p:sp>
      <p:sp>
        <p:nvSpPr>
          <p:cNvPr name="TextBox 5" id="5"/>
          <p:cNvSpPr txBox="true"/>
          <p:nvPr/>
        </p:nvSpPr>
        <p:spPr>
          <a:xfrm rot="0">
            <a:off x="1028700" y="2787967"/>
            <a:ext cx="7858125" cy="1584960"/>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Analyzing the product mix is crucial to understanding where revenue dependencies lie and identifying opportunities for diversification.</a:t>
            </a:r>
          </a:p>
        </p:txBody>
      </p:sp>
      <p:sp>
        <p:nvSpPr>
          <p:cNvPr name="TextBox 6" id="6"/>
          <p:cNvSpPr txBox="true"/>
          <p:nvPr/>
        </p:nvSpPr>
        <p:spPr>
          <a:xfrm rot="0">
            <a:off x="1457325" y="4425315"/>
            <a:ext cx="7429500" cy="212788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C</a:t>
            </a:r>
            <a:r>
              <a:rPr lang="en-US" b="true" sz="2250">
                <a:solidFill>
                  <a:srgbClr val="334155"/>
                </a:solidFill>
                <a:latin typeface="Lato Bold"/>
                <a:ea typeface="Lato Bold"/>
                <a:cs typeface="Lato Bold"/>
                <a:sym typeface="Lato Bold"/>
              </a:rPr>
              <a:t>ategory Leaders: </a:t>
            </a:r>
            <a:r>
              <a:rPr lang="en-US" sz="2250">
                <a:solidFill>
                  <a:srgbClr val="334155"/>
                </a:solidFill>
                <a:latin typeface="Lato"/>
                <a:ea typeface="Lato"/>
                <a:cs typeface="Lato"/>
                <a:sym typeface="Lato"/>
              </a:rPr>
              <a:t>The Computers category heavily dominates the product mix, maxing out the volume tier at nearly 11K orders.</a:t>
            </a:r>
          </a:p>
          <a:p>
            <a:pPr algn="l">
              <a:lnSpc>
                <a:spcPts val="4320"/>
              </a:lnSpc>
            </a:pPr>
          </a:p>
        </p:txBody>
      </p:sp>
      <p:sp>
        <p:nvSpPr>
          <p:cNvPr name="TextBox 7" id="7"/>
          <p:cNvSpPr txBox="true"/>
          <p:nvPr/>
        </p:nvSpPr>
        <p:spPr>
          <a:xfrm rot="0">
            <a:off x="1457325" y="6082665"/>
            <a:ext cx="7429500" cy="104203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Supporting Categories: </a:t>
            </a:r>
            <a:r>
              <a:rPr lang="en-US" sz="2250">
                <a:solidFill>
                  <a:srgbClr val="334155"/>
                </a:solidFill>
                <a:latin typeface="Lato"/>
                <a:ea typeface="Lato"/>
                <a:cs typeface="Lato"/>
                <a:sym typeface="Lato"/>
              </a:rPr>
              <a:t>It is followed by mid-tier segments such as Cell Phones and Music, Movies &amp; Audio Books.</a:t>
            </a:r>
          </a:p>
        </p:txBody>
      </p:sp>
      <p:grpSp>
        <p:nvGrpSpPr>
          <p:cNvPr name="Group 8" id="8"/>
          <p:cNvGrpSpPr/>
          <p:nvPr/>
        </p:nvGrpSpPr>
        <p:grpSpPr>
          <a:xfrm rot="0">
            <a:off x="1028700" y="4615815"/>
            <a:ext cx="171450" cy="300038"/>
            <a:chOff x="0" y="0"/>
            <a:chExt cx="228600" cy="400050"/>
          </a:xfrm>
        </p:grpSpPr>
        <p:sp>
          <p:nvSpPr>
            <p:cNvPr name="Freeform 9" id="9"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4"/>
              <a:stretch>
                <a:fillRect l="0" t="0" r="0" b="0"/>
              </a:stretch>
            </a:blipFill>
          </p:spPr>
        </p:sp>
      </p:grpSp>
      <p:grpSp>
        <p:nvGrpSpPr>
          <p:cNvPr name="Group 10" id="10"/>
          <p:cNvGrpSpPr/>
          <p:nvPr/>
        </p:nvGrpSpPr>
        <p:grpSpPr>
          <a:xfrm rot="0">
            <a:off x="1028700" y="6273165"/>
            <a:ext cx="171450" cy="300038"/>
            <a:chOff x="0" y="0"/>
            <a:chExt cx="228600" cy="400050"/>
          </a:xfrm>
        </p:grpSpPr>
        <p:sp>
          <p:nvSpPr>
            <p:cNvPr name="Freeform 11" id="11"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4"/>
              <a:stretch>
                <a:fillRect l="0" t="0" r="0" b="0"/>
              </a:stretch>
            </a:blipFill>
          </p:spPr>
        </p:sp>
      </p:grpSp>
      <p:grpSp>
        <p:nvGrpSpPr>
          <p:cNvPr name="Group 12" id="12"/>
          <p:cNvGrpSpPr/>
          <p:nvPr/>
        </p:nvGrpSpPr>
        <p:grpSpPr>
          <a:xfrm rot="0">
            <a:off x="1028700" y="7372350"/>
            <a:ext cx="7858125" cy="1423035"/>
            <a:chOff x="0" y="0"/>
            <a:chExt cx="10477500" cy="1897380"/>
          </a:xfrm>
        </p:grpSpPr>
        <p:sp>
          <p:nvSpPr>
            <p:cNvPr name="TextBox 13" id="13"/>
            <p:cNvSpPr txBox="true"/>
            <p:nvPr/>
          </p:nvSpPr>
          <p:spPr>
            <a:xfrm rot="0">
              <a:off x="571500" y="-161925"/>
              <a:ext cx="9906000" cy="205930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Commercial Takeaway: </a:t>
              </a:r>
              <a:r>
                <a:rPr lang="en-US" sz="2250">
                  <a:solidFill>
                    <a:srgbClr val="334155"/>
                  </a:solidFill>
                  <a:latin typeface="Lato"/>
                  <a:ea typeface="Lato"/>
                  <a:cs typeface="Lato"/>
                  <a:sym typeface="Lato"/>
                </a:rPr>
                <a:t>The company's current financial stability relies heavily on hardware sales. Diversification is required to mitigate risk.</a:t>
              </a:r>
            </a:p>
          </p:txBody>
        </p:sp>
        <p:grpSp>
          <p:nvGrpSpPr>
            <p:cNvPr name="Group 14" id="14"/>
            <p:cNvGrpSpPr/>
            <p:nvPr/>
          </p:nvGrpSpPr>
          <p:grpSpPr>
            <a:xfrm rot="0">
              <a:off x="0" y="0"/>
              <a:ext cx="228600" cy="400050"/>
              <a:chOff x="0" y="0"/>
              <a:chExt cx="228600" cy="400050"/>
            </a:xfrm>
          </p:grpSpPr>
          <p:sp>
            <p:nvSpPr>
              <p:cNvPr name="Freeform 15" id="15"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4"/>
                <a:stretch>
                  <a:fillRect l="0" t="0" r="0" b="0"/>
                </a:stretch>
              </a:blipFill>
            </p:spPr>
          </p:sp>
        </p:grpSp>
      </p:grpSp>
      <p:grpSp>
        <p:nvGrpSpPr>
          <p:cNvPr name="Group 16" id="16"/>
          <p:cNvGrpSpPr/>
          <p:nvPr/>
        </p:nvGrpSpPr>
        <p:grpSpPr>
          <a:xfrm rot="0">
            <a:off x="9401175" y="2353363"/>
            <a:ext cx="7858125" cy="5580273"/>
            <a:chOff x="0" y="0"/>
            <a:chExt cx="10477500" cy="7440365"/>
          </a:xfrm>
        </p:grpSpPr>
        <p:grpSp>
          <p:nvGrpSpPr>
            <p:cNvPr name="Group 17" id="17"/>
            <p:cNvGrpSpPr/>
            <p:nvPr/>
          </p:nvGrpSpPr>
          <p:grpSpPr>
            <a:xfrm rot="0">
              <a:off x="0" y="0"/>
              <a:ext cx="10477500" cy="7440365"/>
              <a:chOff x="0" y="0"/>
              <a:chExt cx="10477500" cy="7440365"/>
            </a:xfrm>
          </p:grpSpPr>
          <p:sp>
            <p:nvSpPr>
              <p:cNvPr name="Freeform 18" id="18" descr="image.png"/>
              <p:cNvSpPr/>
              <p:nvPr/>
            </p:nvSpPr>
            <p:spPr>
              <a:xfrm flipH="false" flipV="false" rot="0">
                <a:off x="0" y="0"/>
                <a:ext cx="10477500" cy="7440364"/>
              </a:xfrm>
              <a:custGeom>
                <a:avLst/>
                <a:gdLst/>
                <a:ahLst/>
                <a:cxnLst/>
                <a:rect r="r" b="b" t="t" l="l"/>
                <a:pathLst>
                  <a:path h="7440364" w="10477500">
                    <a:moveTo>
                      <a:pt x="0" y="0"/>
                    </a:moveTo>
                    <a:lnTo>
                      <a:pt x="10477500" y="0"/>
                    </a:lnTo>
                    <a:lnTo>
                      <a:pt x="10477500" y="7440364"/>
                    </a:lnTo>
                    <a:lnTo>
                      <a:pt x="0" y="7440364"/>
                    </a:lnTo>
                    <a:lnTo>
                      <a:pt x="0" y="0"/>
                    </a:lnTo>
                    <a:close/>
                  </a:path>
                </a:pathLst>
              </a:custGeom>
              <a:blipFill>
                <a:blip r:embed="rId5"/>
                <a:stretch>
                  <a:fillRect l="-1390" t="0" r="-1390" b="0"/>
                </a:stretch>
              </a:blipFill>
            </p:spPr>
          </p:sp>
        </p:grpSp>
        <p:sp>
          <p:nvSpPr>
            <p:cNvPr name="Freeform 19" id="19"/>
            <p:cNvSpPr/>
            <p:nvPr/>
          </p:nvSpPr>
          <p:spPr>
            <a:xfrm flipH="false" flipV="false" rot="0">
              <a:off x="652011" y="180501"/>
              <a:ext cx="9139040" cy="7058499"/>
            </a:xfrm>
            <a:custGeom>
              <a:avLst/>
              <a:gdLst/>
              <a:ahLst/>
              <a:cxnLst/>
              <a:rect r="r" b="b" t="t" l="l"/>
              <a:pathLst>
                <a:path h="7058499" w="9139040">
                  <a:moveTo>
                    <a:pt x="0" y="0"/>
                  </a:moveTo>
                  <a:lnTo>
                    <a:pt x="9139040" y="0"/>
                  </a:lnTo>
                  <a:lnTo>
                    <a:pt x="9139040" y="7058499"/>
                  </a:lnTo>
                  <a:lnTo>
                    <a:pt x="0" y="7058499"/>
                  </a:lnTo>
                  <a:lnTo>
                    <a:pt x="0" y="0"/>
                  </a:lnTo>
                  <a:close/>
                </a:path>
              </a:pathLst>
            </a:custGeom>
            <a:blipFill>
              <a:blip r:embed="rId6"/>
              <a:stretch>
                <a:fillRect l="0" t="-286" r="0" b="-286"/>
              </a:stretch>
            </a:blipFill>
          </p:spPr>
        </p:sp>
      </p:grpSp>
      <p:sp>
        <p:nvSpPr>
          <p:cNvPr name="TextBox 20" id="20"/>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Product Portfolio Dominance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9533321" y="2866220"/>
            <a:ext cx="7725979" cy="5286375"/>
            <a:chOff x="0" y="0"/>
            <a:chExt cx="10301306" cy="7048500"/>
          </a:xfrm>
        </p:grpSpPr>
        <p:grpSp>
          <p:nvGrpSpPr>
            <p:cNvPr name="Group 5" id="5"/>
            <p:cNvGrpSpPr/>
            <p:nvPr/>
          </p:nvGrpSpPr>
          <p:grpSpPr>
            <a:xfrm rot="0">
              <a:off x="0" y="0"/>
              <a:ext cx="10301306" cy="7048500"/>
              <a:chOff x="0" y="0"/>
              <a:chExt cx="10301306" cy="7048500"/>
            </a:xfrm>
          </p:grpSpPr>
          <p:sp>
            <p:nvSpPr>
              <p:cNvPr name="Freeform 6" id="6" descr="image.png"/>
              <p:cNvSpPr/>
              <p:nvPr/>
            </p:nvSpPr>
            <p:spPr>
              <a:xfrm flipH="false" flipV="false" rot="0">
                <a:off x="0" y="0"/>
                <a:ext cx="10301306" cy="7048500"/>
              </a:xfrm>
              <a:custGeom>
                <a:avLst/>
                <a:gdLst/>
                <a:ahLst/>
                <a:cxnLst/>
                <a:rect r="r" b="b" t="t" l="l"/>
                <a:pathLst>
                  <a:path h="7048500" w="10301306">
                    <a:moveTo>
                      <a:pt x="0" y="0"/>
                    </a:moveTo>
                    <a:lnTo>
                      <a:pt x="10301306" y="0"/>
                    </a:lnTo>
                    <a:lnTo>
                      <a:pt x="10301306" y="7048500"/>
                    </a:lnTo>
                    <a:lnTo>
                      <a:pt x="0" y="7048500"/>
                    </a:lnTo>
                    <a:lnTo>
                      <a:pt x="0" y="0"/>
                    </a:lnTo>
                    <a:close/>
                  </a:path>
                </a:pathLst>
              </a:custGeom>
              <a:blipFill>
                <a:blip r:embed="rId4"/>
                <a:stretch>
                  <a:fillRect l="0" t="-487" r="0" b="-487"/>
                </a:stretch>
              </a:blipFill>
            </p:spPr>
          </p:sp>
        </p:grpSp>
        <p:sp>
          <p:nvSpPr>
            <p:cNvPr name="Freeform 7" id="7"/>
            <p:cNvSpPr/>
            <p:nvPr/>
          </p:nvSpPr>
          <p:spPr>
            <a:xfrm flipH="false" flipV="false" rot="0">
              <a:off x="159840" y="400050"/>
              <a:ext cx="9912866" cy="6299010"/>
            </a:xfrm>
            <a:custGeom>
              <a:avLst/>
              <a:gdLst/>
              <a:ahLst/>
              <a:cxnLst/>
              <a:rect r="r" b="b" t="t" l="l"/>
              <a:pathLst>
                <a:path h="6299010" w="9912866">
                  <a:moveTo>
                    <a:pt x="0" y="0"/>
                  </a:moveTo>
                  <a:lnTo>
                    <a:pt x="9912866" y="0"/>
                  </a:lnTo>
                  <a:lnTo>
                    <a:pt x="9912866" y="6299010"/>
                  </a:lnTo>
                  <a:lnTo>
                    <a:pt x="0" y="6299010"/>
                  </a:lnTo>
                  <a:lnTo>
                    <a:pt x="0" y="0"/>
                  </a:lnTo>
                  <a:close/>
                </a:path>
              </a:pathLst>
            </a:custGeom>
            <a:blipFill>
              <a:blip r:embed="rId5"/>
              <a:stretch>
                <a:fillRect l="0" t="0" r="0" b="0"/>
              </a:stretch>
            </a:blipFill>
          </p:spPr>
        </p:sp>
      </p:grpSp>
      <p:grpSp>
        <p:nvGrpSpPr>
          <p:cNvPr name="Group 8" id="8"/>
          <p:cNvGrpSpPr/>
          <p:nvPr/>
        </p:nvGrpSpPr>
        <p:grpSpPr>
          <a:xfrm rot="0">
            <a:off x="1028700" y="2194707"/>
            <a:ext cx="8251031" cy="6680835"/>
            <a:chOff x="0" y="0"/>
            <a:chExt cx="11001375" cy="8907780"/>
          </a:xfrm>
        </p:grpSpPr>
        <p:grpSp>
          <p:nvGrpSpPr>
            <p:cNvPr name="Group 9" id="9"/>
            <p:cNvGrpSpPr/>
            <p:nvPr/>
          </p:nvGrpSpPr>
          <p:grpSpPr>
            <a:xfrm rot="0">
              <a:off x="0" y="2628900"/>
              <a:ext cx="228600" cy="400050"/>
              <a:chOff x="0" y="0"/>
              <a:chExt cx="228600" cy="400050"/>
            </a:xfrm>
          </p:grpSpPr>
          <p:sp>
            <p:nvSpPr>
              <p:cNvPr name="Freeform 10" id="10"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1" id="11"/>
            <p:cNvGrpSpPr/>
            <p:nvPr/>
          </p:nvGrpSpPr>
          <p:grpSpPr>
            <a:xfrm rot="0">
              <a:off x="0" y="4838700"/>
              <a:ext cx="228600" cy="400050"/>
              <a:chOff x="0" y="0"/>
              <a:chExt cx="228600" cy="400050"/>
            </a:xfrm>
          </p:grpSpPr>
          <p:sp>
            <p:nvSpPr>
              <p:cNvPr name="Freeform 12" id="12"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3" id="13"/>
            <p:cNvGrpSpPr/>
            <p:nvPr/>
          </p:nvGrpSpPr>
          <p:grpSpPr>
            <a:xfrm rot="0">
              <a:off x="0" y="7048500"/>
              <a:ext cx="228600" cy="400050"/>
              <a:chOff x="0" y="0"/>
              <a:chExt cx="228600" cy="400050"/>
            </a:xfrm>
          </p:grpSpPr>
          <p:sp>
            <p:nvSpPr>
              <p:cNvPr name="Freeform 14" id="14"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sp>
          <p:nvSpPr>
            <p:cNvPr name="TextBox 15" id="15"/>
            <p:cNvSpPr txBox="true"/>
            <p:nvPr/>
          </p:nvSpPr>
          <p:spPr>
            <a:xfrm rot="0">
              <a:off x="0" y="-19050"/>
              <a:ext cx="11001375" cy="8191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The Q4 Holiday Dependency</a:t>
              </a:r>
            </a:p>
          </p:txBody>
        </p:sp>
        <p:sp>
          <p:nvSpPr>
            <p:cNvPr name="TextBox 16" id="16"/>
            <p:cNvSpPr txBox="true"/>
            <p:nvPr/>
          </p:nvSpPr>
          <p:spPr>
            <a:xfrm rot="0">
              <a:off x="0" y="923925"/>
              <a:ext cx="10477500" cy="13811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Historical trend analysis highlights a critical dependency on end-of-year sales, exposing mid-year cash flow vulnerabilities.</a:t>
              </a:r>
            </a:p>
          </p:txBody>
        </p:sp>
        <p:sp>
          <p:nvSpPr>
            <p:cNvPr name="TextBox 17" id="17"/>
            <p:cNvSpPr txBox="true"/>
            <p:nvPr/>
          </p:nvSpPr>
          <p:spPr>
            <a:xfrm rot="0">
              <a:off x="571500" y="2428875"/>
              <a:ext cx="9906000" cy="205930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Predictable Surges:</a:t>
              </a:r>
              <a:r>
                <a:rPr lang="en-US" sz="2250">
                  <a:solidFill>
                    <a:srgbClr val="334155"/>
                  </a:solidFill>
                  <a:latin typeface="Lato"/>
                  <a:ea typeface="Lato"/>
                  <a:cs typeface="Lato"/>
                  <a:sym typeface="Lato"/>
                </a:rPr>
                <a:t> There is an aggressive spike in order volume (&gt;3.0K) and total revenue (~$6.0M) during the fourth quarter of every recorded year.</a:t>
              </a:r>
            </a:p>
          </p:txBody>
        </p:sp>
        <p:sp>
          <p:nvSpPr>
            <p:cNvPr name="TextBox 18" id="18"/>
            <p:cNvSpPr txBox="true"/>
            <p:nvPr/>
          </p:nvSpPr>
          <p:spPr>
            <a:xfrm rot="0">
              <a:off x="571500" y="4638675"/>
              <a:ext cx="9906000" cy="19907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Post-Holiday Drop-off:</a:t>
              </a:r>
              <a:r>
                <a:rPr lang="en-US" sz="2250">
                  <a:solidFill>
                    <a:srgbClr val="334155"/>
                  </a:solidFill>
                  <a:latin typeface="Lato"/>
                  <a:ea typeface="Lato"/>
                  <a:cs typeface="Lato"/>
                  <a:sym typeface="Lato"/>
                </a:rPr>
                <a:t> The momentum sharply declines moving into Q1 and Q2, reflecting a reliance on the Holiday Season.</a:t>
              </a:r>
            </a:p>
          </p:txBody>
        </p:sp>
        <p:sp>
          <p:nvSpPr>
            <p:cNvPr name="TextBox 19" id="19"/>
            <p:cNvSpPr txBox="true"/>
            <p:nvPr/>
          </p:nvSpPr>
          <p:spPr>
            <a:xfrm rot="0">
              <a:off x="571500" y="6848475"/>
              <a:ext cx="9906000" cy="205930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Commercial Takeaway:</a:t>
              </a:r>
              <a:r>
                <a:rPr lang="en-US" sz="2250">
                  <a:solidFill>
                    <a:srgbClr val="334155"/>
                  </a:solidFill>
                  <a:latin typeface="Lato"/>
                  <a:ea typeface="Lato"/>
                  <a:cs typeface="Lato"/>
                  <a:sym typeface="Lato"/>
                </a:rPr>
                <a:t> Marketing and supply chain resources are overly stressed during a narrow window, leaving the rest of the year under-optimized.</a:t>
              </a:r>
            </a:p>
          </p:txBody>
        </p:sp>
      </p:grpSp>
      <p:sp>
        <p:nvSpPr>
          <p:cNvPr name="TextBox 20" id="20"/>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Revenue &amp; Seasonality Trends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1778794"/>
            <a:ext cx="8001000" cy="5143500"/>
            <a:chOff x="0" y="0"/>
            <a:chExt cx="10668000" cy="6858000"/>
          </a:xfrm>
        </p:grpSpPr>
        <p:grpSp>
          <p:nvGrpSpPr>
            <p:cNvPr name="Group 5" id="5"/>
            <p:cNvGrpSpPr/>
            <p:nvPr/>
          </p:nvGrpSpPr>
          <p:grpSpPr>
            <a:xfrm rot="0">
              <a:off x="0" y="0"/>
              <a:ext cx="10668000" cy="6858000"/>
              <a:chOff x="0" y="0"/>
              <a:chExt cx="10668000" cy="6858000"/>
            </a:xfrm>
          </p:grpSpPr>
          <p:sp>
            <p:nvSpPr>
              <p:cNvPr name="Freeform 6" id="6" descr="image.png"/>
              <p:cNvSpPr/>
              <p:nvPr/>
            </p:nvSpPr>
            <p:spPr>
              <a:xfrm flipH="false" flipV="false" rot="0">
                <a:off x="0" y="0"/>
                <a:ext cx="10668000" cy="6858000"/>
              </a:xfrm>
              <a:custGeom>
                <a:avLst/>
                <a:gdLst/>
                <a:ahLst/>
                <a:cxnLst/>
                <a:rect r="r" b="b" t="t" l="l"/>
                <a:pathLst>
                  <a:path h="6858000" w="10668000">
                    <a:moveTo>
                      <a:pt x="0" y="0"/>
                    </a:moveTo>
                    <a:lnTo>
                      <a:pt x="10668000" y="0"/>
                    </a:lnTo>
                    <a:lnTo>
                      <a:pt x="10668000" y="6858000"/>
                    </a:lnTo>
                    <a:lnTo>
                      <a:pt x="0" y="6858000"/>
                    </a:lnTo>
                    <a:lnTo>
                      <a:pt x="0" y="0"/>
                    </a:lnTo>
                    <a:close/>
                  </a:path>
                </a:pathLst>
              </a:custGeom>
              <a:blipFill>
                <a:blip r:embed="rId4"/>
                <a:stretch>
                  <a:fillRect l="-14285" t="0" r="-14285" b="-357"/>
                </a:stretch>
              </a:blipFill>
            </p:spPr>
          </p:sp>
        </p:grpSp>
        <p:sp>
          <p:nvSpPr>
            <p:cNvPr name="Freeform 7" id="7"/>
            <p:cNvSpPr/>
            <p:nvPr/>
          </p:nvSpPr>
          <p:spPr>
            <a:xfrm flipH="false" flipV="false" rot="0">
              <a:off x="228600" y="246861"/>
              <a:ext cx="10157709" cy="6325389"/>
            </a:xfrm>
            <a:custGeom>
              <a:avLst/>
              <a:gdLst/>
              <a:ahLst/>
              <a:cxnLst/>
              <a:rect r="r" b="b" t="t" l="l"/>
              <a:pathLst>
                <a:path h="6325389" w="10157709">
                  <a:moveTo>
                    <a:pt x="0" y="0"/>
                  </a:moveTo>
                  <a:lnTo>
                    <a:pt x="10157709" y="0"/>
                  </a:lnTo>
                  <a:lnTo>
                    <a:pt x="10157709" y="6325389"/>
                  </a:lnTo>
                  <a:lnTo>
                    <a:pt x="0" y="6325389"/>
                  </a:lnTo>
                  <a:lnTo>
                    <a:pt x="0" y="0"/>
                  </a:lnTo>
                  <a:close/>
                </a:path>
              </a:pathLst>
            </a:custGeom>
            <a:blipFill>
              <a:blip r:embed="rId5"/>
              <a:stretch>
                <a:fillRect l="0" t="0" r="0" b="0"/>
              </a:stretch>
            </a:blipFill>
          </p:spPr>
        </p:sp>
      </p:grpSp>
      <p:grpSp>
        <p:nvGrpSpPr>
          <p:cNvPr name="Group 8" id="8"/>
          <p:cNvGrpSpPr/>
          <p:nvPr/>
        </p:nvGrpSpPr>
        <p:grpSpPr>
          <a:xfrm rot="0">
            <a:off x="9419543" y="1778794"/>
            <a:ext cx="8001000" cy="5143500"/>
            <a:chOff x="0" y="0"/>
            <a:chExt cx="10668000" cy="6858000"/>
          </a:xfrm>
        </p:grpSpPr>
        <p:grpSp>
          <p:nvGrpSpPr>
            <p:cNvPr name="Group 9" id="9"/>
            <p:cNvGrpSpPr/>
            <p:nvPr/>
          </p:nvGrpSpPr>
          <p:grpSpPr>
            <a:xfrm rot="0">
              <a:off x="0" y="0"/>
              <a:ext cx="10668000" cy="6858000"/>
              <a:chOff x="0" y="0"/>
              <a:chExt cx="10668000" cy="6858000"/>
            </a:xfrm>
          </p:grpSpPr>
          <p:sp>
            <p:nvSpPr>
              <p:cNvPr name="Freeform 10" id="10" descr="image.png"/>
              <p:cNvSpPr/>
              <p:nvPr/>
            </p:nvSpPr>
            <p:spPr>
              <a:xfrm flipH="false" flipV="false" rot="0">
                <a:off x="0" y="0"/>
                <a:ext cx="10668000" cy="6858000"/>
              </a:xfrm>
              <a:custGeom>
                <a:avLst/>
                <a:gdLst/>
                <a:ahLst/>
                <a:cxnLst/>
                <a:rect r="r" b="b" t="t" l="l"/>
                <a:pathLst>
                  <a:path h="6858000" w="10668000">
                    <a:moveTo>
                      <a:pt x="0" y="0"/>
                    </a:moveTo>
                    <a:lnTo>
                      <a:pt x="10668000" y="0"/>
                    </a:lnTo>
                    <a:lnTo>
                      <a:pt x="10668000" y="6858000"/>
                    </a:lnTo>
                    <a:lnTo>
                      <a:pt x="0" y="6858000"/>
                    </a:lnTo>
                    <a:lnTo>
                      <a:pt x="0" y="0"/>
                    </a:lnTo>
                    <a:close/>
                  </a:path>
                </a:pathLst>
              </a:custGeom>
              <a:blipFill>
                <a:blip r:embed="rId4"/>
                <a:stretch>
                  <a:fillRect l="-14285" t="0" r="-14285" b="-357"/>
                </a:stretch>
              </a:blipFill>
            </p:spPr>
          </p:sp>
        </p:grpSp>
        <p:sp>
          <p:nvSpPr>
            <p:cNvPr name="Freeform 11" id="11"/>
            <p:cNvSpPr/>
            <p:nvPr/>
          </p:nvSpPr>
          <p:spPr>
            <a:xfrm flipH="false" flipV="false" rot="0">
              <a:off x="379507" y="1378865"/>
              <a:ext cx="9908987" cy="4100270"/>
            </a:xfrm>
            <a:custGeom>
              <a:avLst/>
              <a:gdLst/>
              <a:ahLst/>
              <a:cxnLst/>
              <a:rect r="r" b="b" t="t" l="l"/>
              <a:pathLst>
                <a:path h="4100270" w="9908987">
                  <a:moveTo>
                    <a:pt x="0" y="0"/>
                  </a:moveTo>
                  <a:lnTo>
                    <a:pt x="9908986" y="0"/>
                  </a:lnTo>
                  <a:lnTo>
                    <a:pt x="9908986" y="4100270"/>
                  </a:lnTo>
                  <a:lnTo>
                    <a:pt x="0" y="4100270"/>
                  </a:lnTo>
                  <a:lnTo>
                    <a:pt x="0" y="0"/>
                  </a:lnTo>
                  <a:close/>
                </a:path>
              </a:pathLst>
            </a:custGeom>
            <a:blipFill>
              <a:blip r:embed="rId6"/>
              <a:stretch>
                <a:fillRect l="0" t="0" r="0" b="0"/>
              </a:stretch>
            </a:blipFill>
          </p:spPr>
        </p:sp>
      </p:grpSp>
      <p:grpSp>
        <p:nvGrpSpPr>
          <p:cNvPr name="Group 12" id="12"/>
          <p:cNvGrpSpPr/>
          <p:nvPr/>
        </p:nvGrpSpPr>
        <p:grpSpPr>
          <a:xfrm rot="0">
            <a:off x="657225" y="7172325"/>
            <a:ext cx="8401050" cy="2085975"/>
            <a:chOff x="0" y="0"/>
            <a:chExt cx="11201400" cy="2781300"/>
          </a:xfrm>
        </p:grpSpPr>
        <p:sp>
          <p:nvSpPr>
            <p:cNvPr name="TextBox 13" id="13"/>
            <p:cNvSpPr txBox="true"/>
            <p:nvPr/>
          </p:nvSpPr>
          <p:spPr>
            <a:xfrm rot="0">
              <a:off x="0" y="-28575"/>
              <a:ext cx="11201400" cy="695325"/>
            </a:xfrm>
            <a:prstGeom prst="rect">
              <a:avLst/>
            </a:prstGeom>
          </p:spPr>
          <p:txBody>
            <a:bodyPr anchor="t" rtlCol="false" tIns="0" lIns="0" bIns="0" rIns="0">
              <a:spAutoFit/>
            </a:bodyPr>
            <a:lstStyle/>
            <a:p>
              <a:pPr algn="ctr">
                <a:lnSpc>
                  <a:spcPts val="3240"/>
                </a:lnSpc>
              </a:pPr>
              <a:r>
                <a:rPr lang="en-US" b="true" sz="2700">
                  <a:solidFill>
                    <a:srgbClr val="0284C7"/>
                  </a:solidFill>
                  <a:latin typeface="Poppins Medium"/>
                  <a:ea typeface="Poppins Medium"/>
                  <a:cs typeface="Poppins Medium"/>
                  <a:sym typeface="Poppins Medium"/>
                </a:rPr>
                <a:t>Logistics Optimization</a:t>
              </a:r>
            </a:p>
          </p:txBody>
        </p:sp>
        <p:sp>
          <p:nvSpPr>
            <p:cNvPr name="TextBox 14" id="14"/>
            <p:cNvSpPr txBox="true"/>
            <p:nvPr/>
          </p:nvSpPr>
          <p:spPr>
            <a:xfrm rot="0">
              <a:off x="266700" y="790575"/>
              <a:ext cx="10668000" cy="1990725"/>
            </a:xfrm>
            <a:prstGeom prst="rect">
              <a:avLst/>
            </a:prstGeom>
          </p:spPr>
          <p:txBody>
            <a:bodyPr anchor="t" rtlCol="false" tIns="0" lIns="0" bIns="0" rIns="0">
              <a:spAutoFit/>
            </a:bodyPr>
            <a:lstStyle/>
            <a:p>
              <a:pPr algn="ctr">
                <a:lnSpc>
                  <a:spcPts val="4320"/>
                </a:lnSpc>
              </a:pPr>
              <a:r>
                <a:rPr lang="en-US" sz="2250">
                  <a:solidFill>
                    <a:srgbClr val="334155"/>
                  </a:solidFill>
                  <a:latin typeface="Lato"/>
                  <a:ea typeface="Lato"/>
                  <a:cs typeface="Lato"/>
                  <a:sym typeface="Lato"/>
                </a:rPr>
                <a:t>Delivery efficiency has successfully stabilized at a precise 4-day average. The supply chain has proven highly resilient despite growing global volume.</a:t>
              </a:r>
            </a:p>
          </p:txBody>
        </p:sp>
      </p:grpSp>
      <p:grpSp>
        <p:nvGrpSpPr>
          <p:cNvPr name="Group 15" id="15"/>
          <p:cNvGrpSpPr/>
          <p:nvPr/>
        </p:nvGrpSpPr>
        <p:grpSpPr>
          <a:xfrm rot="0">
            <a:off x="9219518" y="7172325"/>
            <a:ext cx="8401050" cy="2085975"/>
            <a:chOff x="0" y="0"/>
            <a:chExt cx="11201400" cy="2781300"/>
          </a:xfrm>
        </p:grpSpPr>
        <p:sp>
          <p:nvSpPr>
            <p:cNvPr name="TextBox 16" id="16"/>
            <p:cNvSpPr txBox="true"/>
            <p:nvPr/>
          </p:nvSpPr>
          <p:spPr>
            <a:xfrm rot="0">
              <a:off x="0" y="-28575"/>
              <a:ext cx="11201400" cy="695325"/>
            </a:xfrm>
            <a:prstGeom prst="rect">
              <a:avLst/>
            </a:prstGeom>
          </p:spPr>
          <p:txBody>
            <a:bodyPr anchor="t" rtlCol="false" tIns="0" lIns="0" bIns="0" rIns="0">
              <a:spAutoFit/>
            </a:bodyPr>
            <a:lstStyle/>
            <a:p>
              <a:pPr algn="ctr">
                <a:lnSpc>
                  <a:spcPts val="3240"/>
                </a:lnSpc>
              </a:pPr>
              <a:r>
                <a:rPr lang="en-US" b="true" sz="2700">
                  <a:solidFill>
                    <a:srgbClr val="0284C7"/>
                  </a:solidFill>
                  <a:latin typeface="Poppins Medium"/>
                  <a:ea typeface="Poppins Medium"/>
                  <a:cs typeface="Poppins Medium"/>
                  <a:sym typeface="Poppins Medium"/>
                </a:rPr>
                <a:t>Channel Value Generation</a:t>
              </a:r>
            </a:p>
          </p:txBody>
        </p:sp>
        <p:sp>
          <p:nvSpPr>
            <p:cNvPr name="TextBox 17" id="17"/>
            <p:cNvSpPr txBox="true"/>
            <p:nvPr/>
          </p:nvSpPr>
          <p:spPr>
            <a:xfrm rot="0">
              <a:off x="266700" y="790575"/>
              <a:ext cx="10668000" cy="1990725"/>
            </a:xfrm>
            <a:prstGeom prst="rect">
              <a:avLst/>
            </a:prstGeom>
          </p:spPr>
          <p:txBody>
            <a:bodyPr anchor="t" rtlCol="false" tIns="0" lIns="0" bIns="0" rIns="0">
              <a:spAutoFit/>
            </a:bodyPr>
            <a:lstStyle/>
            <a:p>
              <a:pPr algn="ctr">
                <a:lnSpc>
                  <a:spcPts val="4320"/>
                </a:lnSpc>
              </a:pPr>
              <a:r>
                <a:rPr lang="en-US" sz="2250">
                  <a:solidFill>
                    <a:srgbClr val="334155"/>
                  </a:solidFill>
                  <a:latin typeface="Lato"/>
                  <a:ea typeface="Lato"/>
                  <a:cs typeface="Lato"/>
                  <a:sym typeface="Lato"/>
                </a:rPr>
                <a:t>In-Store transactions consistently yield a higher Average Order Value ($2.14K) compared to Online ($2.04K), driven by physical cross-selling advantages.</a:t>
              </a:r>
            </a:p>
          </p:txBody>
        </p:sp>
      </p:grpSp>
      <p:sp>
        <p:nvSpPr>
          <p:cNvPr name="TextBox 18" id="18"/>
          <p:cNvSpPr txBox="true"/>
          <p:nvPr/>
        </p:nvSpPr>
        <p:spPr>
          <a:xfrm rot="0">
            <a:off x="72866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Operational Efficiency &amp; Channel Performance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500312"/>
            <a:ext cx="5143500" cy="6715125"/>
            <a:chOff x="0" y="0"/>
            <a:chExt cx="6858000" cy="8953500"/>
          </a:xfrm>
        </p:grpSpPr>
        <p:sp>
          <p:nvSpPr>
            <p:cNvPr name="Freeform 5" id="5"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4"/>
              <a:stretch>
                <a:fillRect l="0" t="0" r="0" b="0"/>
              </a:stretch>
            </a:blipFill>
          </p:spPr>
        </p:sp>
      </p:grpSp>
      <p:grpSp>
        <p:nvGrpSpPr>
          <p:cNvPr name="Group 6" id="6"/>
          <p:cNvGrpSpPr/>
          <p:nvPr/>
        </p:nvGrpSpPr>
        <p:grpSpPr>
          <a:xfrm rot="0">
            <a:off x="6572250" y="2500312"/>
            <a:ext cx="5143500" cy="6715125"/>
            <a:chOff x="0" y="0"/>
            <a:chExt cx="6858000" cy="8953500"/>
          </a:xfrm>
        </p:grpSpPr>
        <p:sp>
          <p:nvSpPr>
            <p:cNvPr name="Freeform 7" id="7"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5"/>
              <a:stretch>
                <a:fillRect l="0" t="0" r="0" b="0"/>
              </a:stretch>
            </a:blipFill>
          </p:spPr>
        </p:sp>
      </p:grpSp>
      <p:grpSp>
        <p:nvGrpSpPr>
          <p:cNvPr name="Group 8" id="8"/>
          <p:cNvGrpSpPr/>
          <p:nvPr/>
        </p:nvGrpSpPr>
        <p:grpSpPr>
          <a:xfrm rot="0">
            <a:off x="12287250" y="2500312"/>
            <a:ext cx="5143500" cy="6715125"/>
            <a:chOff x="0" y="0"/>
            <a:chExt cx="6858000" cy="8953500"/>
          </a:xfrm>
        </p:grpSpPr>
        <p:sp>
          <p:nvSpPr>
            <p:cNvPr name="Freeform 9" id="9"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6"/>
              <a:stretch>
                <a:fillRect l="0" t="0" r="0" b="0"/>
              </a:stretch>
            </a:blipFill>
          </p:spPr>
        </p:sp>
      </p:grpSp>
      <p:sp>
        <p:nvSpPr>
          <p:cNvPr name="TextBox 10" id="10"/>
          <p:cNvSpPr txBox="true"/>
          <p:nvPr/>
        </p:nvSpPr>
        <p:spPr>
          <a:xfrm rot="0">
            <a:off x="1443038" y="4981575"/>
            <a:ext cx="3971925" cy="29051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Given the reliance on Q4, logistics teams must secure maximum inventory allocation for </a:t>
            </a:r>
            <a:r>
              <a:rPr lang="en-US" sz="2250" i="true">
                <a:solidFill>
                  <a:srgbClr val="334155"/>
                </a:solidFill>
                <a:latin typeface="Lato Italics"/>
                <a:ea typeface="Lato Italics"/>
                <a:cs typeface="Lato Italics"/>
                <a:sym typeface="Lato Italics"/>
              </a:rPr>
              <a:t>Computers</a:t>
            </a:r>
            <a:r>
              <a:rPr lang="en-US" sz="2250">
                <a:solidFill>
                  <a:srgbClr val="334155"/>
                </a:solidFill>
                <a:latin typeface="Lato"/>
                <a:ea typeface="Lato"/>
                <a:cs typeface="Lato"/>
                <a:sym typeface="Lato"/>
              </a:rPr>
              <a:t> in US and EU distribution centers by late Q3 to mitigate holiday stock-outs.</a:t>
            </a:r>
          </a:p>
        </p:txBody>
      </p:sp>
      <p:sp>
        <p:nvSpPr>
          <p:cNvPr name="TextBox 11" id="11"/>
          <p:cNvSpPr txBox="true"/>
          <p:nvPr/>
        </p:nvSpPr>
        <p:spPr>
          <a:xfrm rot="0">
            <a:off x="7158038" y="4981575"/>
            <a:ext cx="3971925" cy="29051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Bridge the deficit between In-Store and Online channels by implementing dynamic bundle pricing algorithms at checkout, replicating the consultative in-store experience.</a:t>
            </a:r>
          </a:p>
        </p:txBody>
      </p:sp>
      <p:sp>
        <p:nvSpPr>
          <p:cNvPr name="TextBox 12" id="12"/>
          <p:cNvSpPr txBox="true"/>
          <p:nvPr/>
        </p:nvSpPr>
        <p:spPr>
          <a:xfrm rot="0">
            <a:off x="12873038" y="4981575"/>
            <a:ext cx="3971925" cy="29051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Flatten the sharp Q1/Q2 revenue drop-offs by initiating targeted promotional campaigns for mid-tier products during off-peak months, aimed at emerging segments.</a:t>
            </a:r>
          </a:p>
        </p:txBody>
      </p:sp>
      <p:grpSp>
        <p:nvGrpSpPr>
          <p:cNvPr name="Group 13" id="13"/>
          <p:cNvGrpSpPr/>
          <p:nvPr/>
        </p:nvGrpSpPr>
        <p:grpSpPr>
          <a:xfrm rot="0">
            <a:off x="1443038" y="2843212"/>
            <a:ext cx="4170521" cy="2300288"/>
            <a:chOff x="0" y="0"/>
            <a:chExt cx="5560695" cy="3067050"/>
          </a:xfrm>
        </p:grpSpPr>
        <p:sp>
          <p:nvSpPr>
            <p:cNvPr name="TextBox 14" id="14"/>
            <p:cNvSpPr txBox="true"/>
            <p:nvPr/>
          </p:nvSpPr>
          <p:spPr>
            <a:xfrm rot="0">
              <a:off x="0" y="1447800"/>
              <a:ext cx="5560695" cy="16192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Q4 Supply Chain Fortification</a:t>
              </a:r>
            </a:p>
          </p:txBody>
        </p:sp>
        <p:grpSp>
          <p:nvGrpSpPr>
            <p:cNvPr name="Group 15" id="15"/>
            <p:cNvGrpSpPr/>
            <p:nvPr/>
          </p:nvGrpSpPr>
          <p:grpSpPr>
            <a:xfrm rot="0">
              <a:off x="0" y="0"/>
              <a:ext cx="1028700" cy="914400"/>
              <a:chOff x="0" y="0"/>
              <a:chExt cx="1028700" cy="914400"/>
            </a:xfrm>
          </p:grpSpPr>
          <p:sp>
            <p:nvSpPr>
              <p:cNvPr name="Freeform 16" id="16" descr="image.png"/>
              <p:cNvSpPr/>
              <p:nvPr/>
            </p:nvSpPr>
            <p:spPr>
              <a:xfrm flipH="false" flipV="false" rot="0">
                <a:off x="0" y="0"/>
                <a:ext cx="1028700" cy="914400"/>
              </a:xfrm>
              <a:custGeom>
                <a:avLst/>
                <a:gdLst/>
                <a:ahLst/>
                <a:cxnLst/>
                <a:rect r="r" b="b" t="t" l="l"/>
                <a:pathLst>
                  <a:path h="914400" w="1028700">
                    <a:moveTo>
                      <a:pt x="0" y="0"/>
                    </a:moveTo>
                    <a:lnTo>
                      <a:pt x="1028700" y="0"/>
                    </a:lnTo>
                    <a:lnTo>
                      <a:pt x="1028700" y="914400"/>
                    </a:lnTo>
                    <a:lnTo>
                      <a:pt x="0" y="914400"/>
                    </a:lnTo>
                    <a:lnTo>
                      <a:pt x="0" y="0"/>
                    </a:lnTo>
                    <a:close/>
                  </a:path>
                </a:pathLst>
              </a:custGeom>
              <a:blipFill>
                <a:blip r:embed="rId7"/>
                <a:stretch>
                  <a:fillRect l="0" t="0" r="0" b="0"/>
                </a:stretch>
              </a:blipFill>
            </p:spPr>
          </p:sp>
        </p:grpSp>
      </p:grpSp>
      <p:grpSp>
        <p:nvGrpSpPr>
          <p:cNvPr name="Group 17" id="17"/>
          <p:cNvGrpSpPr/>
          <p:nvPr/>
        </p:nvGrpSpPr>
        <p:grpSpPr>
          <a:xfrm rot="0">
            <a:off x="7158038" y="2843212"/>
            <a:ext cx="4170521" cy="2300288"/>
            <a:chOff x="0" y="0"/>
            <a:chExt cx="5560695" cy="3067050"/>
          </a:xfrm>
        </p:grpSpPr>
        <p:sp>
          <p:nvSpPr>
            <p:cNvPr name="TextBox 18" id="18"/>
            <p:cNvSpPr txBox="true"/>
            <p:nvPr/>
          </p:nvSpPr>
          <p:spPr>
            <a:xfrm rot="0">
              <a:off x="0" y="1447800"/>
              <a:ext cx="5560695" cy="16192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Closing the AOV Gap</a:t>
              </a:r>
            </a:p>
          </p:txBody>
        </p:sp>
        <p:grpSp>
          <p:nvGrpSpPr>
            <p:cNvPr name="Group 19" id="19"/>
            <p:cNvGrpSpPr/>
            <p:nvPr/>
          </p:nvGrpSpPr>
          <p:grpSpPr>
            <a:xfrm rot="0">
              <a:off x="0" y="0"/>
              <a:ext cx="1143000" cy="914400"/>
              <a:chOff x="0" y="0"/>
              <a:chExt cx="1143000" cy="914400"/>
            </a:xfrm>
          </p:grpSpPr>
          <p:sp>
            <p:nvSpPr>
              <p:cNvPr name="Freeform 20" id="20" descr="image.png"/>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8"/>
                <a:stretch>
                  <a:fillRect l="0" t="0" r="-1666" b="0"/>
                </a:stretch>
              </a:blipFill>
            </p:spPr>
          </p:sp>
        </p:grpSp>
      </p:grpSp>
      <p:grpSp>
        <p:nvGrpSpPr>
          <p:cNvPr name="Group 21" id="21"/>
          <p:cNvGrpSpPr/>
          <p:nvPr/>
        </p:nvGrpSpPr>
        <p:grpSpPr>
          <a:xfrm rot="0">
            <a:off x="12873038" y="2843212"/>
            <a:ext cx="4170521" cy="2300288"/>
            <a:chOff x="0" y="0"/>
            <a:chExt cx="5560695" cy="3067050"/>
          </a:xfrm>
        </p:grpSpPr>
        <p:sp>
          <p:nvSpPr>
            <p:cNvPr name="TextBox 22" id="22"/>
            <p:cNvSpPr txBox="true"/>
            <p:nvPr/>
          </p:nvSpPr>
          <p:spPr>
            <a:xfrm rot="0">
              <a:off x="0" y="1447800"/>
              <a:ext cx="5560695" cy="16192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Off-Peak Market Penetration</a:t>
              </a:r>
            </a:p>
          </p:txBody>
        </p:sp>
        <p:grpSp>
          <p:nvGrpSpPr>
            <p:cNvPr name="Group 23" id="23"/>
            <p:cNvGrpSpPr/>
            <p:nvPr/>
          </p:nvGrpSpPr>
          <p:grpSpPr>
            <a:xfrm rot="0">
              <a:off x="0" y="0"/>
              <a:ext cx="914400" cy="914400"/>
              <a:chOff x="0" y="0"/>
              <a:chExt cx="914400" cy="914400"/>
            </a:xfrm>
          </p:grpSpPr>
          <p:sp>
            <p:nvSpPr>
              <p:cNvPr name="Freeform 24" id="24"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9"/>
                <a:stretch>
                  <a:fillRect l="0" t="0" r="-2083" b="0"/>
                </a:stretch>
              </a:blipFill>
            </p:spPr>
          </p:sp>
        </p:grpSp>
      </p:grpSp>
      <p:sp>
        <p:nvSpPr>
          <p:cNvPr name="TextBox 25" id="25"/>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Strategic Recommendations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442912" y="3087662"/>
            <a:ext cx="17402175" cy="1800225"/>
          </a:xfrm>
          <a:prstGeom prst="rect">
            <a:avLst/>
          </a:prstGeom>
        </p:spPr>
        <p:txBody>
          <a:bodyPr anchor="t" rtlCol="false" tIns="0" lIns="0" bIns="0" rIns="0">
            <a:spAutoFit/>
          </a:bodyPr>
          <a:lstStyle/>
          <a:p>
            <a:pPr algn="ctr">
              <a:lnSpc>
                <a:spcPts val="10800"/>
              </a:lnSpc>
            </a:pPr>
            <a:r>
              <a:rPr lang="en-US" b="true" sz="9000">
                <a:solidFill>
                  <a:srgbClr val="0F172A"/>
                </a:solidFill>
                <a:latin typeface="Poppins Bold"/>
                <a:ea typeface="Poppins Bold"/>
                <a:cs typeface="Poppins Bold"/>
                <a:sym typeface="Poppins Bold"/>
              </a:rPr>
              <a:t>Conclusion</a:t>
            </a:r>
          </a:p>
        </p:txBody>
      </p:sp>
      <p:sp>
        <p:nvSpPr>
          <p:cNvPr name="TextBox 5" id="5"/>
          <p:cNvSpPr txBox="true"/>
          <p:nvPr/>
        </p:nvSpPr>
        <p:spPr>
          <a:xfrm rot="0">
            <a:off x="857250" y="4983137"/>
            <a:ext cx="16573500" cy="1287513"/>
          </a:xfrm>
          <a:prstGeom prst="rect">
            <a:avLst/>
          </a:prstGeom>
        </p:spPr>
        <p:txBody>
          <a:bodyPr anchor="t" rtlCol="false" tIns="0" lIns="0" bIns="0" rIns="0">
            <a:spAutoFit/>
          </a:bodyPr>
          <a:lstStyle/>
          <a:p>
            <a:pPr algn="ctr">
              <a:lnSpc>
                <a:spcPts val="5182"/>
              </a:lnSpc>
            </a:pPr>
            <a:r>
              <a:rPr lang="en-US" sz="2700">
                <a:solidFill>
                  <a:srgbClr val="64748B"/>
                </a:solidFill>
                <a:latin typeface="Lato"/>
                <a:ea typeface="Lato"/>
                <a:cs typeface="Lato"/>
                <a:sym typeface="Lato"/>
              </a:rPr>
              <a:t>By leveraging our stable fulfillment infrastructure to push digital cross-selling and off-peak promotions, the business is well-positioned to evolve from seasonal spikes to sustained, year-round profitability.</a:t>
            </a:r>
          </a:p>
        </p:txBody>
      </p:sp>
      <p:sp>
        <p:nvSpPr>
          <p:cNvPr name="TextBox 6" id="6"/>
          <p:cNvSpPr txBox="true"/>
          <p:nvPr/>
        </p:nvSpPr>
        <p:spPr>
          <a:xfrm rot="0">
            <a:off x="857250" y="6832625"/>
            <a:ext cx="16573500" cy="280987"/>
          </a:xfrm>
          <a:prstGeom prst="rect">
            <a:avLst/>
          </a:prstGeom>
        </p:spPr>
        <p:txBody>
          <a:bodyPr anchor="t" rtlCol="false" tIns="0" lIns="0" bIns="0" rIns="0">
            <a:spAutoFit/>
          </a:bodyPr>
          <a:lstStyle/>
          <a:p>
            <a:pPr algn="ctr">
              <a:lnSpc>
                <a:spcPts val="2160"/>
              </a:lnSpc>
            </a:pPr>
            <a:r>
              <a:rPr lang="en-US" b="true" sz="1800">
                <a:solidFill>
                  <a:srgbClr val="0284C7"/>
                </a:solidFill>
                <a:latin typeface="Lato Bold"/>
                <a:ea typeface="Lato Bold"/>
                <a:cs typeface="Lato Bold"/>
                <a:sym typeface="Lato Bold"/>
              </a:rPr>
              <a:t>End of Presentation | Interactive Executive Dashboard Available on Tableau Public</a:t>
            </a:r>
          </a:p>
        </p:txBody>
      </p:sp>
      <p:grpSp>
        <p:nvGrpSpPr>
          <p:cNvPr name="Group 7" id="7"/>
          <p:cNvGrpSpPr/>
          <p:nvPr/>
        </p:nvGrpSpPr>
        <p:grpSpPr>
          <a:xfrm rot="0">
            <a:off x="152400" y="152400"/>
            <a:ext cx="18288000" cy="10287000"/>
            <a:chOff x="0" y="0"/>
            <a:chExt cx="24384000" cy="13716000"/>
          </a:xfrm>
        </p:grpSpPr>
        <p:sp>
          <p:nvSpPr>
            <p:cNvPr name="Freeform 8" id="8"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9" id="9"/>
          <p:cNvGrpSpPr/>
          <p:nvPr/>
        </p:nvGrpSpPr>
        <p:grpSpPr>
          <a:xfrm rot="0">
            <a:off x="1028700" y="2606459"/>
            <a:ext cx="4772965" cy="6231370"/>
            <a:chOff x="0" y="0"/>
            <a:chExt cx="6363953" cy="8308494"/>
          </a:xfrm>
        </p:grpSpPr>
        <p:grpSp>
          <p:nvGrpSpPr>
            <p:cNvPr name="Group 10" id="10"/>
            <p:cNvGrpSpPr/>
            <p:nvPr/>
          </p:nvGrpSpPr>
          <p:grpSpPr>
            <a:xfrm rot="0">
              <a:off x="0" y="0"/>
              <a:ext cx="6363953" cy="8308494"/>
              <a:chOff x="0" y="0"/>
              <a:chExt cx="6858000" cy="8953500"/>
            </a:xfrm>
          </p:grpSpPr>
          <p:sp>
            <p:nvSpPr>
              <p:cNvPr name="Freeform 11" id="11"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4"/>
                <a:stretch>
                  <a:fillRect l="0" t="0" r="0" b="0"/>
                </a:stretch>
              </a:blipFill>
            </p:spPr>
          </p:sp>
        </p:grpSp>
        <p:grpSp>
          <p:nvGrpSpPr>
            <p:cNvPr name="Group 12" id="12"/>
            <p:cNvGrpSpPr/>
            <p:nvPr/>
          </p:nvGrpSpPr>
          <p:grpSpPr>
            <a:xfrm rot="0">
              <a:off x="540376" y="518872"/>
              <a:ext cx="1456600" cy="914400"/>
              <a:chOff x="0" y="0"/>
              <a:chExt cx="1456600" cy="914400"/>
            </a:xfrm>
          </p:grpSpPr>
          <p:sp>
            <p:nvSpPr>
              <p:cNvPr name="Freeform 13" id="13"/>
              <p:cNvSpPr/>
              <p:nvPr/>
            </p:nvSpPr>
            <p:spPr>
              <a:xfrm flipH="false" flipV="false" rot="0">
                <a:off x="0" y="0"/>
                <a:ext cx="1456600" cy="914400"/>
              </a:xfrm>
              <a:custGeom>
                <a:avLst/>
                <a:gdLst/>
                <a:ahLst/>
                <a:cxnLst/>
                <a:rect r="r" b="b" t="t" l="l"/>
                <a:pathLst>
                  <a:path h="914400" w="1456600">
                    <a:moveTo>
                      <a:pt x="0" y="0"/>
                    </a:moveTo>
                    <a:lnTo>
                      <a:pt x="1456600" y="0"/>
                    </a:lnTo>
                    <a:lnTo>
                      <a:pt x="1456600" y="914400"/>
                    </a:lnTo>
                    <a:lnTo>
                      <a:pt x="0" y="914400"/>
                    </a:lnTo>
                    <a:lnTo>
                      <a:pt x="0" y="0"/>
                    </a:lnTo>
                    <a:close/>
                  </a:path>
                </a:pathLst>
              </a:custGeom>
              <a:blipFill>
                <a:blip r:embed="rId5"/>
                <a:stretch>
                  <a:fillRect l="-8775" t="0" r="-8775" b="0"/>
                </a:stretch>
              </a:blipFill>
            </p:spPr>
          </p:sp>
        </p:grpSp>
        <p:sp>
          <p:nvSpPr>
            <p:cNvPr name="TextBox 14" id="14"/>
            <p:cNvSpPr txBox="true"/>
            <p:nvPr/>
          </p:nvSpPr>
          <p:spPr>
            <a:xfrm rot="0">
              <a:off x="534026" y="1736980"/>
              <a:ext cx="5295900" cy="495490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Th</a:t>
              </a:r>
              <a:r>
                <a:rPr lang="en-US" sz="2250">
                  <a:solidFill>
                    <a:srgbClr val="334155"/>
                  </a:solidFill>
                  <a:latin typeface="Lato"/>
                  <a:ea typeface="Lato"/>
                  <a:cs typeface="Lato"/>
                  <a:sym typeface="Lato"/>
                </a:rPr>
                <a:t>is commercial audit confirms that the company's financial backbone is heavily concentrated in </a:t>
              </a:r>
              <a:r>
                <a:rPr lang="en-US" sz="2250">
                  <a:solidFill>
                    <a:srgbClr val="334155"/>
                  </a:solidFill>
                  <a:latin typeface="Lato"/>
                  <a:ea typeface="Lato"/>
                  <a:cs typeface="Lato"/>
                  <a:sym typeface="Lato"/>
                </a:rPr>
                <a:t>Computer</a:t>
              </a:r>
              <a:r>
                <a:rPr lang="en-US" sz="2250">
                  <a:solidFill>
                    <a:srgbClr val="334155"/>
                  </a:solidFill>
                  <a:latin typeface="Lato"/>
                  <a:ea typeface="Lato"/>
                  <a:cs typeface="Lato"/>
                  <a:sym typeface="Lato"/>
                </a:rPr>
                <a:t> sale</a:t>
              </a:r>
              <a:r>
                <a:rPr lang="en-US" sz="2250">
                  <a:solidFill>
                    <a:srgbClr val="334155"/>
                  </a:solidFill>
                  <a:latin typeface="Lato"/>
                  <a:ea typeface="Lato"/>
                  <a:cs typeface="Lato"/>
                  <a:sym typeface="Lato"/>
                </a:rPr>
                <a:t>s</a:t>
              </a:r>
              <a:r>
                <a:rPr lang="en-US" sz="2250">
                  <a:solidFill>
                    <a:srgbClr val="334155"/>
                  </a:solidFill>
                  <a:latin typeface="Lato"/>
                  <a:ea typeface="Lato"/>
                  <a:cs typeface="Lato"/>
                  <a:sym typeface="Lato"/>
                </a:rPr>
                <a:t> within Western markets, driven almost exclusively by the Q4 holiday season.</a:t>
              </a:r>
            </a:p>
          </p:txBody>
        </p:sp>
      </p:grpSp>
      <p:grpSp>
        <p:nvGrpSpPr>
          <p:cNvPr name="Group 15" id="15"/>
          <p:cNvGrpSpPr/>
          <p:nvPr/>
        </p:nvGrpSpPr>
        <p:grpSpPr>
          <a:xfrm rot="0">
            <a:off x="6757518" y="2606459"/>
            <a:ext cx="4772965" cy="6231370"/>
            <a:chOff x="0" y="0"/>
            <a:chExt cx="6363953" cy="8308494"/>
          </a:xfrm>
        </p:grpSpPr>
        <p:grpSp>
          <p:nvGrpSpPr>
            <p:cNvPr name="Group 16" id="16"/>
            <p:cNvGrpSpPr/>
            <p:nvPr/>
          </p:nvGrpSpPr>
          <p:grpSpPr>
            <a:xfrm rot="0">
              <a:off x="0" y="0"/>
              <a:ext cx="6363953" cy="8308494"/>
              <a:chOff x="0" y="0"/>
              <a:chExt cx="6858000" cy="8953500"/>
            </a:xfrm>
          </p:grpSpPr>
          <p:sp>
            <p:nvSpPr>
              <p:cNvPr name="Freeform 17" id="17"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4"/>
                <a:stretch>
                  <a:fillRect l="0" t="0" r="0" b="0"/>
                </a:stretch>
              </a:blipFill>
            </p:spPr>
          </p:sp>
        </p:grpSp>
        <p:grpSp>
          <p:nvGrpSpPr>
            <p:cNvPr name="Group 18" id="18"/>
            <p:cNvGrpSpPr/>
            <p:nvPr/>
          </p:nvGrpSpPr>
          <p:grpSpPr>
            <a:xfrm rot="0">
              <a:off x="534026" y="518872"/>
              <a:ext cx="1143000" cy="914400"/>
              <a:chOff x="0" y="0"/>
              <a:chExt cx="1143000" cy="914400"/>
            </a:xfrm>
          </p:grpSpPr>
          <p:sp>
            <p:nvSpPr>
              <p:cNvPr name="Freeform 19" id="19"/>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6"/>
                <a:stretch>
                  <a:fillRect l="-30776" t="0" r="-30776" b="0"/>
                </a:stretch>
              </a:blipFill>
            </p:spPr>
          </p:sp>
        </p:grpSp>
        <p:sp>
          <p:nvSpPr>
            <p:cNvPr name="TextBox 20" id="20"/>
            <p:cNvSpPr txBox="true"/>
            <p:nvPr/>
          </p:nvSpPr>
          <p:spPr>
            <a:xfrm rot="0">
              <a:off x="534026" y="1736980"/>
              <a:ext cx="5295900" cy="350710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Ope</a:t>
              </a:r>
              <a:r>
                <a:rPr lang="en-US" sz="2250">
                  <a:solidFill>
                    <a:srgbClr val="334155"/>
                  </a:solidFill>
                  <a:latin typeface="Lato"/>
                  <a:ea typeface="Lato"/>
                  <a:cs typeface="Lato"/>
                  <a:sym typeface="Lato"/>
                </a:rPr>
                <a:t>rationally, the logistics network is highly robust, successfully sustaining a 4-day delivery benchmark across the globe.</a:t>
              </a:r>
            </a:p>
          </p:txBody>
        </p:sp>
      </p:grpSp>
      <p:grpSp>
        <p:nvGrpSpPr>
          <p:cNvPr name="Group 21" id="21"/>
          <p:cNvGrpSpPr/>
          <p:nvPr/>
        </p:nvGrpSpPr>
        <p:grpSpPr>
          <a:xfrm rot="0">
            <a:off x="12482982" y="2606459"/>
            <a:ext cx="4772965" cy="6231370"/>
            <a:chOff x="0" y="0"/>
            <a:chExt cx="6363953" cy="8308494"/>
          </a:xfrm>
        </p:grpSpPr>
        <p:grpSp>
          <p:nvGrpSpPr>
            <p:cNvPr name="Group 22" id="22"/>
            <p:cNvGrpSpPr/>
            <p:nvPr/>
          </p:nvGrpSpPr>
          <p:grpSpPr>
            <a:xfrm rot="0">
              <a:off x="0" y="0"/>
              <a:ext cx="6363953" cy="8308494"/>
              <a:chOff x="0" y="0"/>
              <a:chExt cx="6858000" cy="8953500"/>
            </a:xfrm>
          </p:grpSpPr>
          <p:sp>
            <p:nvSpPr>
              <p:cNvPr name="Freeform 23" id="23"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4"/>
                <a:stretch>
                  <a:fillRect l="0" t="0" r="0" b="0"/>
                </a:stretch>
              </a:blipFill>
            </p:spPr>
          </p:sp>
        </p:grpSp>
        <p:grpSp>
          <p:nvGrpSpPr>
            <p:cNvPr name="Group 24" id="24"/>
            <p:cNvGrpSpPr/>
            <p:nvPr/>
          </p:nvGrpSpPr>
          <p:grpSpPr>
            <a:xfrm rot="0">
              <a:off x="534026" y="518872"/>
              <a:ext cx="1745029" cy="914400"/>
              <a:chOff x="0" y="0"/>
              <a:chExt cx="1745029" cy="914400"/>
            </a:xfrm>
          </p:grpSpPr>
          <p:sp>
            <p:nvSpPr>
              <p:cNvPr name="Freeform 25" id="25"/>
              <p:cNvSpPr/>
              <p:nvPr/>
            </p:nvSpPr>
            <p:spPr>
              <a:xfrm flipH="false" flipV="false" rot="0">
                <a:off x="0" y="0"/>
                <a:ext cx="1745029" cy="914400"/>
              </a:xfrm>
              <a:custGeom>
                <a:avLst/>
                <a:gdLst/>
                <a:ahLst/>
                <a:cxnLst/>
                <a:rect r="r" b="b" t="t" l="l"/>
                <a:pathLst>
                  <a:path h="914400" w="1745029">
                    <a:moveTo>
                      <a:pt x="0" y="0"/>
                    </a:moveTo>
                    <a:lnTo>
                      <a:pt x="1745029" y="0"/>
                    </a:lnTo>
                    <a:lnTo>
                      <a:pt x="1745029" y="914400"/>
                    </a:lnTo>
                    <a:lnTo>
                      <a:pt x="0" y="914400"/>
                    </a:lnTo>
                    <a:lnTo>
                      <a:pt x="0" y="0"/>
                    </a:lnTo>
                    <a:close/>
                  </a:path>
                </a:pathLst>
              </a:custGeom>
              <a:blipFill>
                <a:blip r:embed="rId7"/>
                <a:stretch>
                  <a:fillRect l="-3427" t="0" r="-3427" b="0"/>
                </a:stretch>
              </a:blipFill>
            </p:spPr>
          </p:sp>
        </p:grpSp>
        <p:sp>
          <p:nvSpPr>
            <p:cNvPr name="TextBox 26" id="26"/>
            <p:cNvSpPr txBox="true"/>
            <p:nvPr/>
          </p:nvSpPr>
          <p:spPr>
            <a:xfrm rot="0">
              <a:off x="534026" y="1736980"/>
              <a:ext cx="5295900" cy="567880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By </a:t>
              </a:r>
              <a:r>
                <a:rPr lang="en-US" sz="2250">
                  <a:solidFill>
                    <a:srgbClr val="334155"/>
                  </a:solidFill>
                  <a:latin typeface="Lato"/>
                  <a:ea typeface="Lato"/>
                  <a:cs typeface="Lato"/>
                  <a:sym typeface="Lato"/>
                </a:rPr>
                <a:t>leveraging this stable fulfillment infrastructure to push digital cross-selling and off-peak promotions, the business is well-positioned to evolve from seasonal spikes to sustained, year-round profitability.</a:t>
              </a:r>
            </a:p>
          </p:txBody>
        </p:sp>
      </p:grpSp>
      <p:sp>
        <p:nvSpPr>
          <p:cNvPr name="TextBox 27" id="27"/>
          <p:cNvSpPr txBox="true"/>
          <p:nvPr/>
        </p:nvSpPr>
        <p:spPr>
          <a:xfrm rot="0">
            <a:off x="442913"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Conclusions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App</a:t>
            </a:r>
            <a:r>
              <a:rPr lang="en-US" b="true" sz="4500">
                <a:solidFill>
                  <a:srgbClr val="0F172A"/>
                </a:solidFill>
                <a:latin typeface="Poppins Bold"/>
                <a:ea typeface="Poppins Bold"/>
                <a:cs typeface="Poppins Bold"/>
                <a:sym typeface="Poppins Bold"/>
              </a:rPr>
              <a:t>endix &amp; Resources</a:t>
            </a:r>
          </a:p>
        </p:txBody>
      </p:sp>
      <p:grpSp>
        <p:nvGrpSpPr>
          <p:cNvPr name="Group 5" id="5"/>
          <p:cNvGrpSpPr/>
          <p:nvPr/>
        </p:nvGrpSpPr>
        <p:grpSpPr>
          <a:xfrm rot="0">
            <a:off x="5151909" y="2150040"/>
            <a:ext cx="7776524" cy="1321358"/>
            <a:chOff x="0" y="0"/>
            <a:chExt cx="10368699" cy="1761811"/>
          </a:xfrm>
        </p:grpSpPr>
        <p:sp>
          <p:nvSpPr>
            <p:cNvPr name="TextBox 6" id="6"/>
            <p:cNvSpPr txBox="true"/>
            <p:nvPr/>
          </p:nvSpPr>
          <p:spPr>
            <a:xfrm rot="0">
              <a:off x="0" y="-123825"/>
              <a:ext cx="10368699" cy="575135"/>
            </a:xfrm>
            <a:prstGeom prst="rect">
              <a:avLst/>
            </a:prstGeom>
          </p:spPr>
          <p:txBody>
            <a:bodyPr anchor="t" rtlCol="false" tIns="0" lIns="0" bIns="0" rIns="0">
              <a:spAutoFit/>
            </a:bodyPr>
            <a:lstStyle/>
            <a:p>
              <a:pPr algn="l">
                <a:lnSpc>
                  <a:spcPts val="3795"/>
                </a:lnSpc>
              </a:pPr>
              <a:r>
                <a:rPr lang="en-US" b="true" sz="2258">
                  <a:solidFill>
                    <a:srgbClr val="202124"/>
                  </a:solidFill>
                  <a:latin typeface="Poppins Bold"/>
                  <a:ea typeface="Poppins Bold"/>
                  <a:cs typeface="Poppins Bold"/>
                  <a:sym typeface="Poppins Bold"/>
                </a:rPr>
                <a:t>DATASET</a:t>
              </a:r>
            </a:p>
          </p:txBody>
        </p:sp>
        <p:sp>
          <p:nvSpPr>
            <p:cNvPr name="TextBox 7" id="7"/>
            <p:cNvSpPr txBox="true"/>
            <p:nvPr/>
          </p:nvSpPr>
          <p:spPr>
            <a:xfrm rot="0">
              <a:off x="0" y="692471"/>
              <a:ext cx="10368699" cy="1069340"/>
            </a:xfrm>
            <a:prstGeom prst="rect">
              <a:avLst/>
            </a:prstGeom>
          </p:spPr>
          <p:txBody>
            <a:bodyPr anchor="t" rtlCol="false" tIns="0" lIns="0" bIns="0" rIns="0">
              <a:spAutoFit/>
            </a:bodyPr>
            <a:lstStyle/>
            <a:p>
              <a:pPr algn="just">
                <a:lnSpc>
                  <a:spcPts val="3360"/>
                </a:lnSpc>
              </a:pPr>
              <a:r>
                <a:rPr lang="en-US" sz="2000" u="sng">
                  <a:solidFill>
                    <a:srgbClr val="1A73E8"/>
                  </a:solidFill>
                  <a:latin typeface="Poppins"/>
                  <a:ea typeface="Poppins"/>
                  <a:cs typeface="Poppins"/>
                  <a:sym typeface="Poppins"/>
                  <a:hlinkClick r:id="rId4" tooltip="https://docs.google.com/spreadsheets/d/1aDs0jMjC9sNaI0JgzZ1sJsPGH_xBfXezU3XYWsV78Bc/edit?usp=sharing"/>
                </a:rPr>
                <a:t>https://docs.google.com/spreadsheets/d/1aDs0jMjC9sNaI0JgzZ1sJsPGH_xBfXezU3XYWsV78Bc/edit?usp=sharing</a:t>
              </a:r>
            </a:p>
          </p:txBody>
        </p:sp>
      </p:grpSp>
      <p:grpSp>
        <p:nvGrpSpPr>
          <p:cNvPr name="Group 8" id="8"/>
          <p:cNvGrpSpPr/>
          <p:nvPr/>
        </p:nvGrpSpPr>
        <p:grpSpPr>
          <a:xfrm rot="0">
            <a:off x="5151909" y="3855943"/>
            <a:ext cx="7984182" cy="2578658"/>
            <a:chOff x="0" y="0"/>
            <a:chExt cx="10645575" cy="3438211"/>
          </a:xfrm>
        </p:grpSpPr>
        <p:sp>
          <p:nvSpPr>
            <p:cNvPr name="TextBox 9" id="9"/>
            <p:cNvSpPr txBox="true"/>
            <p:nvPr/>
          </p:nvSpPr>
          <p:spPr>
            <a:xfrm rot="0">
              <a:off x="0" y="-123825"/>
              <a:ext cx="10368699" cy="575135"/>
            </a:xfrm>
            <a:prstGeom prst="rect">
              <a:avLst/>
            </a:prstGeom>
          </p:spPr>
          <p:txBody>
            <a:bodyPr anchor="t" rtlCol="false" tIns="0" lIns="0" bIns="0" rIns="0">
              <a:spAutoFit/>
            </a:bodyPr>
            <a:lstStyle/>
            <a:p>
              <a:pPr algn="l">
                <a:lnSpc>
                  <a:spcPts val="3795"/>
                </a:lnSpc>
              </a:pPr>
              <a:r>
                <a:rPr lang="en-US" b="true" sz="2258">
                  <a:solidFill>
                    <a:srgbClr val="202124"/>
                  </a:solidFill>
                  <a:latin typeface="Poppins Bold"/>
                  <a:ea typeface="Poppins Bold"/>
                  <a:cs typeface="Poppins Bold"/>
                  <a:sym typeface="Poppins Bold"/>
                </a:rPr>
                <a:t>TABLEAU PUBLIC</a:t>
              </a:r>
            </a:p>
          </p:txBody>
        </p:sp>
        <p:sp>
          <p:nvSpPr>
            <p:cNvPr name="TextBox 10" id="10"/>
            <p:cNvSpPr txBox="true"/>
            <p:nvPr/>
          </p:nvSpPr>
          <p:spPr>
            <a:xfrm rot="0">
              <a:off x="0" y="692471"/>
              <a:ext cx="10645575" cy="2745740"/>
            </a:xfrm>
            <a:prstGeom prst="rect">
              <a:avLst/>
            </a:prstGeom>
          </p:spPr>
          <p:txBody>
            <a:bodyPr anchor="t" rtlCol="false" tIns="0" lIns="0" bIns="0" rIns="0">
              <a:spAutoFit/>
            </a:bodyPr>
            <a:lstStyle/>
            <a:p>
              <a:pPr algn="just">
                <a:lnSpc>
                  <a:spcPts val="3360"/>
                </a:lnSpc>
              </a:pPr>
              <a:r>
                <a:rPr lang="en-US" sz="2000" u="sng">
                  <a:solidFill>
                    <a:srgbClr val="1A73E8"/>
                  </a:solidFill>
                  <a:latin typeface="Poppins"/>
                  <a:ea typeface="Poppins"/>
                  <a:cs typeface="Poppins"/>
                  <a:sym typeface="Poppins"/>
                  <a:hlinkClick r:id="rId5" tooltip="https://public.tableau.com/views/GlobalElectronicsRetailerExecutiveCommercialDashboard/ExecutiveDashboard?:language=en-US&amp;:sid=&amp;:redirect=auth&amp;:display_count=n&amp;:origin=viz_share_link"/>
                </a:rPr>
                <a:t>https://public.tableau.com/views/GlobalElectronicsRetailerExecutiveCommercialDashboard/ExecutiveDashboard?:language=en-US&amp;:sid=&amp;:redirect=auth&amp;:display_count=n&amp;:origin=viz_share_link</a:t>
              </a:r>
            </a:p>
          </p:txBody>
        </p:sp>
      </p:grpSp>
      <p:grpSp>
        <p:nvGrpSpPr>
          <p:cNvPr name="Group 11" id="11"/>
          <p:cNvGrpSpPr/>
          <p:nvPr/>
        </p:nvGrpSpPr>
        <p:grpSpPr>
          <a:xfrm rot="0">
            <a:off x="5151909" y="6815601"/>
            <a:ext cx="7776524" cy="1321358"/>
            <a:chOff x="0" y="0"/>
            <a:chExt cx="10368699" cy="1761811"/>
          </a:xfrm>
        </p:grpSpPr>
        <p:sp>
          <p:nvSpPr>
            <p:cNvPr name="TextBox 12" id="12"/>
            <p:cNvSpPr txBox="true"/>
            <p:nvPr/>
          </p:nvSpPr>
          <p:spPr>
            <a:xfrm rot="0">
              <a:off x="0" y="-123825"/>
              <a:ext cx="10368699" cy="575135"/>
            </a:xfrm>
            <a:prstGeom prst="rect">
              <a:avLst/>
            </a:prstGeom>
          </p:spPr>
          <p:txBody>
            <a:bodyPr anchor="t" rtlCol="false" tIns="0" lIns="0" bIns="0" rIns="0">
              <a:spAutoFit/>
            </a:bodyPr>
            <a:lstStyle/>
            <a:p>
              <a:pPr algn="l">
                <a:lnSpc>
                  <a:spcPts val="3795"/>
                </a:lnSpc>
              </a:pPr>
              <a:r>
                <a:rPr lang="en-US" b="true" sz="2258">
                  <a:solidFill>
                    <a:srgbClr val="202124"/>
                  </a:solidFill>
                  <a:latin typeface="Poppins Bold"/>
                  <a:ea typeface="Poppins Bold"/>
                  <a:cs typeface="Poppins Bold"/>
                  <a:sym typeface="Poppins Bold"/>
                </a:rPr>
                <a:t>GITHUB</a:t>
              </a:r>
            </a:p>
          </p:txBody>
        </p:sp>
        <p:sp>
          <p:nvSpPr>
            <p:cNvPr name="TextBox 13" id="13"/>
            <p:cNvSpPr txBox="true"/>
            <p:nvPr/>
          </p:nvSpPr>
          <p:spPr>
            <a:xfrm rot="0">
              <a:off x="0" y="692471"/>
              <a:ext cx="10368699" cy="1069340"/>
            </a:xfrm>
            <a:prstGeom prst="rect">
              <a:avLst/>
            </a:prstGeom>
          </p:spPr>
          <p:txBody>
            <a:bodyPr anchor="t" rtlCol="false" tIns="0" lIns="0" bIns="0" rIns="0">
              <a:spAutoFit/>
            </a:bodyPr>
            <a:lstStyle/>
            <a:p>
              <a:pPr algn="just">
                <a:lnSpc>
                  <a:spcPts val="3360"/>
                </a:lnSpc>
              </a:pPr>
              <a:r>
                <a:rPr lang="en-US" sz="2000" u="sng">
                  <a:solidFill>
                    <a:srgbClr val="1A73E8"/>
                  </a:solidFill>
                  <a:latin typeface="Poppins"/>
                  <a:ea typeface="Poppins"/>
                  <a:cs typeface="Poppins"/>
                  <a:sym typeface="Poppins"/>
                  <a:hlinkClick r:id="rId6" tooltip="https://github.com/davidsebastianart/global-electronics-retailer-audit"/>
                </a:rPr>
                <a:t>https://github.com/davidsebastianart/global-electronics-retailer-audit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442912" y="4600575"/>
            <a:ext cx="17402175" cy="1028700"/>
          </a:xfrm>
          <a:prstGeom prst="rect">
            <a:avLst/>
          </a:prstGeom>
        </p:spPr>
        <p:txBody>
          <a:bodyPr anchor="t" rtlCol="false" tIns="0" lIns="0" bIns="0" rIns="0">
            <a:spAutoFit/>
          </a:bodyPr>
          <a:lstStyle/>
          <a:p>
            <a:pPr algn="ctr">
              <a:lnSpc>
                <a:spcPts val="7679"/>
              </a:lnSpc>
            </a:pPr>
            <a:r>
              <a:rPr lang="en-US" b="true" sz="6399">
                <a:solidFill>
                  <a:srgbClr val="0F172A"/>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DAHPXZeVhBc</dc:identifier>
  <dcterms:modified xsi:type="dcterms:W3CDTF">2011-08-01T06:04:30Z</dcterms:modified>
  <cp:revision>1</cp:revision>
  <dc:title>Global Electronics Retailer Audit</dc:title>
</cp:coreProperties>
</file>